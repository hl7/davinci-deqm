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69" r:id="rId3"/>
    <p:sldId id="258" r:id="rId4"/>
    <p:sldId id="259" r:id="rId5"/>
    <p:sldId id="264" r:id="rId6"/>
    <p:sldId id="256" r:id="rId7"/>
    <p:sldId id="265" r:id="rId8"/>
    <p:sldId id="270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FAEFA7-1D50-4BD5-A43F-0A42BB396FC2}">
          <p14:sldIdLst>
            <p14:sldId id="257"/>
            <p14:sldId id="269"/>
            <p14:sldId id="258"/>
            <p14:sldId id="259"/>
            <p14:sldId id="264"/>
            <p14:sldId id="256"/>
            <p14:sldId id="265"/>
            <p14:sldId id="270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0544" autoAdjust="0"/>
  </p:normalViewPr>
  <p:slideViewPr>
    <p:cSldViewPr snapToGrid="0">
      <p:cViewPr varScale="1">
        <p:scale>
          <a:sx n="105" d="100"/>
          <a:sy n="105" d="100"/>
        </p:scale>
        <p:origin x="81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6B6D7-20D6-4E9A-B6E5-85297A5570A7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1152-882A-4CAB-AF5B-0D5B05615C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7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(FHIR-57016)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6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F49F-1116-8534-17A3-E899FB61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3D7D1-B032-99F4-F6BF-E0EAD7A86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0DC31-DE5C-537D-27F8-B6EEB6228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B135C-19FA-325D-850C-73C7DF7A2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654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12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006-111D-4004-8F92-98AA29A5C6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3CCA5-A6F9-4500-B381-0522A57AF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DBFC-1CF0-40AF-B8BC-13B3FF01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C2376-52A7-47C4-BF56-A0F52FCE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5E2C1-3E38-45EC-863F-237309FA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CD3C-E4B9-4CB0-8961-2AFA09A6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FA61-078C-4032-A0B4-0658935E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3894-3598-4B07-A94B-0ED728ED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35E61-E4CD-438C-B2C0-7325293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C86-6527-48E7-AF10-956CD96D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A90F2-6AD5-45EF-88FB-8ACE4EB3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88FD4-54A2-4F3C-822D-E8CAB69EE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522A0-C892-431D-A6D3-8BB0077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B38CE-D566-4AE9-96DD-3BB8BBD2F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FDCA4-D6D0-49A8-B797-0FD568DB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6DF7-DDDD-4803-9004-487A49B1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4CAF4-43DB-466E-A5BF-B38DE99E1B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59A59-C77C-4AB6-9110-BBAE25B75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BEB2E-A7D5-49BA-B9C6-A5FC33B8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B996-F8B4-4834-805F-30212B09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1D2AC-094F-40DA-BBFE-DBF8F7A83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04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963B0-967E-44F1-BF6A-C98833453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D193-B5E2-4F26-B992-CEB2E9E84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38F47-D892-4957-A4CC-A00529237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30171-5794-47BD-AC15-79F20204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24ACC-E511-4B9A-AECF-7B26C51AA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D7FD4-B7D7-4C39-B652-76F5EE06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C4E26-4B74-4210-8713-5B7174B19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579515-214B-44A4-9A94-9670884D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F64-4E74-4A7E-8B30-8E8BE6D4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49FE8-9BF1-484E-9444-6FD8DC155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E7F3D-F7DA-40FA-B83B-D372D7EA9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02C1E-1BAA-4E60-9621-100518C7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80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B91C8A-0C15-4F9C-A867-7414B524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4E745-9C10-4332-9157-BA92C624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DD6FF-7962-4E0D-A2B3-A14EE441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805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4D5C7-F5B4-4A04-BBEC-09C3F0C5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0F32-282E-4A26-B8E9-98646780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3BD40-C6B6-475B-AEDB-D8A910DF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51D4E-795F-479F-A70B-5B3D2B93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E3194-570F-4F19-B099-9C528973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631EE-CBEC-40E3-9B2C-FF135E51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90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3EA2-40EC-479A-BEA4-74FBD8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466C5-4743-42DC-8E26-3A1484A7FA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E7D60-05F3-4DFC-B41C-65D6D9B35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97FFB-C46D-4769-921F-8C91730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3F4BE-53B0-45EC-AB79-12D6E4E43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E82BD-BCF4-48CB-A601-20D770CA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9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923C-0CB6-4B01-9184-D1606C3F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BC16-9341-4F81-BFF8-E9A06DFB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2830B-8E54-44CB-B821-FA9181A5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719CE-C0DB-4822-B23B-1240EA69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E33E-16DA-42E4-A498-0135C23E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7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FEC0-F094-4C89-9AC5-0EB21235C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374FB-0E6E-445F-BC03-22A508421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911ED-4BF1-45FE-8D37-F96ACFA9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9BF97-195E-442B-9BF5-7625A98D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EBDF-348E-4F83-AF55-CBCF4130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0A8A0-CD93-4F6D-895B-B5DA2C42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378EE-3E39-4E8F-98F8-E1EE9E06F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8BF0-F4A4-41D5-A7A5-ED3C6BF83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D49B-BC6D-4065-97F6-E22D565E4F2F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F2B1-00F9-4820-AF7F-BD0438CA4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532E7-C454-432F-9EE8-89200970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53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2BD032-5E93-4CA6-8D3A-9C491E326572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74245-25B3-4FA2-A0B7-92212D91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1-5 Gaps in Care Reporting Scenario</a:t>
            </a: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E7A6692E-AF7F-4E93-825B-F1C6EAE5096A}"/>
              </a:ext>
            </a:extLst>
          </p:cNvPr>
          <p:cNvSpPr/>
          <p:nvPr/>
        </p:nvSpPr>
        <p:spPr>
          <a:xfrm>
            <a:off x="3531577" y="3016251"/>
            <a:ext cx="5427785" cy="961292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9CAF82E-B6E2-4DF6-87A3-5E875E82F0A9}"/>
              </a:ext>
            </a:extLst>
          </p:cNvPr>
          <p:cNvSpPr/>
          <p:nvPr/>
        </p:nvSpPr>
        <p:spPr>
          <a:xfrm flipH="1" flipV="1">
            <a:off x="3346939" y="4360258"/>
            <a:ext cx="5498122" cy="1043353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A95AEE-78F5-4A8F-A338-8CFC1E4A457E}"/>
              </a:ext>
            </a:extLst>
          </p:cNvPr>
          <p:cNvSpPr/>
          <p:nvPr/>
        </p:nvSpPr>
        <p:spPr>
          <a:xfrm>
            <a:off x="2730745" y="3661388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5F827A-3D07-44CB-A3B3-105DD19C0E5D}"/>
              </a:ext>
            </a:extLst>
          </p:cNvPr>
          <p:cNvSpPr/>
          <p:nvPr/>
        </p:nvSpPr>
        <p:spPr>
          <a:xfrm>
            <a:off x="7759211" y="3729285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2AFC1-25B9-4D0D-8631-F99658C75EDE}"/>
              </a:ext>
            </a:extLst>
          </p:cNvPr>
          <p:cNvSpPr/>
          <p:nvPr/>
        </p:nvSpPr>
        <p:spPr>
          <a:xfrm>
            <a:off x="4132384" y="2574380"/>
            <a:ext cx="3927231" cy="37397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376FAE-3409-4BAA-8930-8E8CA8E6E99C}"/>
              </a:ext>
            </a:extLst>
          </p:cNvPr>
          <p:cNvSpPr/>
          <p:nvPr/>
        </p:nvSpPr>
        <p:spPr>
          <a:xfrm>
            <a:off x="4293576" y="5551436"/>
            <a:ext cx="3903785" cy="3855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Return DEQM </a:t>
            </a:r>
            <a:r>
              <a:rPr lang="en-US" dirty="0"/>
              <a:t>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195115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4832E-F189-E2D1-E227-6A347991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B44D90-4F32-303A-5005-A9A22C4C0EBA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045A8-8645-0F40-9D19-1BB2BEFA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Reporting Scenario</a:t>
            </a:r>
            <a:endParaRPr lang="en-US" sz="2000" dirty="0"/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91B427F8-64C0-8BC5-7242-B1CA0BEA47BC}"/>
              </a:ext>
            </a:extLst>
          </p:cNvPr>
          <p:cNvSpPr/>
          <p:nvPr/>
        </p:nvSpPr>
        <p:spPr>
          <a:xfrm>
            <a:off x="3531577" y="3262427"/>
            <a:ext cx="5486400" cy="365760"/>
          </a:xfrm>
          <a:prstGeom prst="uturnArrow">
            <a:avLst>
              <a:gd name="adj1" fmla="val 25000"/>
              <a:gd name="adj2" fmla="val 25000"/>
              <a:gd name="adj3" fmla="val 28205"/>
              <a:gd name="adj4" fmla="val 43750"/>
              <a:gd name="adj5" fmla="val 99039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48D5C62-1065-3A54-03CA-F7577BBB2BFC}"/>
              </a:ext>
            </a:extLst>
          </p:cNvPr>
          <p:cNvSpPr/>
          <p:nvPr/>
        </p:nvSpPr>
        <p:spPr>
          <a:xfrm flipH="1" flipV="1">
            <a:off x="3531577" y="4662101"/>
            <a:ext cx="5486400" cy="365760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AF8450-E3E6-93DD-705F-2E943FA06DF3}"/>
              </a:ext>
            </a:extLst>
          </p:cNvPr>
          <p:cNvSpPr/>
          <p:nvPr/>
        </p:nvSpPr>
        <p:spPr>
          <a:xfrm>
            <a:off x="25351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Client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5BBAB4-D51A-D233-8EB0-164B4B318372}"/>
              </a:ext>
            </a:extLst>
          </p:cNvPr>
          <p:cNvSpPr/>
          <p:nvPr/>
        </p:nvSpPr>
        <p:spPr>
          <a:xfrm>
            <a:off x="80215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B7811D7-15EA-7311-0487-B98B37B3A75C}"/>
              </a:ext>
            </a:extLst>
          </p:cNvPr>
          <p:cNvSpPr/>
          <p:nvPr/>
        </p:nvSpPr>
        <p:spPr>
          <a:xfrm>
            <a:off x="4606802" y="2885936"/>
            <a:ext cx="3335947" cy="37397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B6E4B7-9506-F6BA-87EC-5CF00119A90F}"/>
              </a:ext>
            </a:extLst>
          </p:cNvPr>
          <p:cNvSpPr/>
          <p:nvPr/>
        </p:nvSpPr>
        <p:spPr>
          <a:xfrm>
            <a:off x="4322884" y="5024552"/>
            <a:ext cx="3903785" cy="3855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Return DEQM 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6585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D593A1-C4E8-42AA-849B-3A82F0BB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71" y="0"/>
            <a:ext cx="9177057" cy="68580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DB2DFF4-C41B-4E00-AD77-D82560AC909C}"/>
              </a:ext>
            </a:extLst>
          </p:cNvPr>
          <p:cNvSpPr/>
          <p:nvPr/>
        </p:nvSpPr>
        <p:spPr>
          <a:xfrm rot="19268669">
            <a:off x="6291686" y="3427791"/>
            <a:ext cx="5122400" cy="26501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61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51DD9-4A88-4235-9BBC-6F8248D3C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28" y="2734686"/>
            <a:ext cx="1686160" cy="905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926AC-D41E-489E-9E28-5D845B96E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986" y="2734686"/>
            <a:ext cx="1343212" cy="895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6F7963-6581-43BE-9E7F-8BDA81784165}"/>
              </a:ext>
            </a:extLst>
          </p:cNvPr>
          <p:cNvSpPr txBox="1"/>
          <p:nvPr/>
        </p:nvSpPr>
        <p:spPr>
          <a:xfrm>
            <a:off x="2053508" y="2365354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65FE0-68B6-4D06-8FE7-6D57A86A1386}"/>
              </a:ext>
            </a:extLst>
          </p:cNvPr>
          <p:cNvSpPr txBox="1"/>
          <p:nvPr/>
        </p:nvSpPr>
        <p:spPr>
          <a:xfrm>
            <a:off x="7397412" y="2390287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Measurement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191868" y="3630161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620942" y="3639687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16388" y="4711043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474895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71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7B3DF-9DB0-4B96-BD97-21C858567EE1}"/>
              </a:ext>
            </a:extLst>
          </p:cNvPr>
          <p:cNvCxnSpPr>
            <a:cxnSpLocks/>
            <a:stCxn id="4" idx="3"/>
            <a:endCxn id="19" idx="1"/>
          </p:cNvCxnSpPr>
          <p:nvPr/>
        </p:nvCxnSpPr>
        <p:spPr>
          <a:xfrm flipV="1">
            <a:off x="5116354" y="3865546"/>
            <a:ext cx="1357541" cy="43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9C1C471-DB5F-48E8-887C-88A5C9B7C936}"/>
              </a:ext>
            </a:extLst>
          </p:cNvPr>
          <p:cNvSpPr txBox="1"/>
          <p:nvPr/>
        </p:nvSpPr>
        <p:spPr>
          <a:xfrm>
            <a:off x="8573464" y="5479177"/>
            <a:ext cx="120045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CBEBC19-2399-4EB5-8810-02FF1ACE01D9}"/>
              </a:ext>
            </a:extLst>
          </p:cNvPr>
          <p:cNvSpPr txBox="1"/>
          <p:nvPr/>
        </p:nvSpPr>
        <p:spPr>
          <a:xfrm>
            <a:off x="5241293" y="3696262"/>
            <a:ext cx="573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section.focus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676" y="1258338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252043" y="352095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3248552" y="1646804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6512983" y="531681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  <a:p>
            <a:pPr algn="ctr"/>
            <a:r>
              <a:rPr lang="en-US" sz="1000" dirty="0"/>
              <a:t>Closed Gap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C7500F27-C043-4884-B858-531EC9938AD3}"/>
              </a:ext>
            </a:extLst>
          </p:cNvPr>
          <p:cNvSpPr/>
          <p:nvPr/>
        </p:nvSpPr>
        <p:spPr>
          <a:xfrm>
            <a:off x="6512985" y="166431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Pneumococcal Flu Vaccine</a:t>
            </a:r>
          </a:p>
          <a:p>
            <a:pPr algn="ctr"/>
            <a:r>
              <a:rPr lang="en-US" sz="1000" dirty="0"/>
              <a:t>Open Gap</a:t>
            </a:r>
            <a:endParaRPr lang="en-US" sz="16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489358" y="4486943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Patient*</a:t>
            </a:r>
          </a:p>
          <a:p>
            <a:pPr algn="ctr"/>
            <a:r>
              <a:rPr lang="en-US" sz="900" dirty="0"/>
              <a:t>Age 63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A19CA935-C43E-4C7B-959F-7553D355F5AF}"/>
              </a:ext>
            </a:extLst>
          </p:cNvPr>
          <p:cNvSpPr/>
          <p:nvPr/>
        </p:nvSpPr>
        <p:spPr>
          <a:xfrm>
            <a:off x="9589718" y="4652717"/>
            <a:ext cx="1864311" cy="81033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  <a:p>
            <a:pPr algn="ctr"/>
            <a:r>
              <a:rPr lang="en-US" sz="1000" dirty="0"/>
              <a:t>9/10/2018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9608891" y="5650790"/>
            <a:ext cx="1864310" cy="779355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Lab Observation</a:t>
            </a:r>
          </a:p>
          <a:p>
            <a:pPr algn="ctr"/>
            <a:r>
              <a:rPr lang="en-US" sz="1000" dirty="0"/>
              <a:t>FOBT</a:t>
            </a:r>
          </a:p>
          <a:p>
            <a:pPr algn="ctr"/>
            <a:r>
              <a:rPr lang="en-US" sz="1000" dirty="0"/>
              <a:t>10/1/2019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242456" y="5282939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  <a:p>
            <a:pPr algn="ctr"/>
            <a:r>
              <a:rPr lang="en-US" sz="1000" dirty="0"/>
              <a:t>(example Payer)</a:t>
            </a:r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F4DCC147-F1CD-4EAF-9C73-16087FFCF623}"/>
              </a:ext>
            </a:extLst>
          </p:cNvPr>
          <p:cNvSpPr/>
          <p:nvPr/>
        </p:nvSpPr>
        <p:spPr>
          <a:xfrm>
            <a:off x="6473895" y="3491770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Breast Cancer Screening</a:t>
            </a:r>
          </a:p>
          <a:p>
            <a:pPr algn="ctr"/>
            <a:r>
              <a:rPr lang="en-US" sz="1000" dirty="0"/>
              <a:t>Closed Gap</a:t>
            </a:r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DB9DC-D22B-48E0-8C9B-C862EBB7828B}"/>
              </a:ext>
            </a:extLst>
          </p:cNvPr>
          <p:cNvSpPr/>
          <p:nvPr/>
        </p:nvSpPr>
        <p:spPr>
          <a:xfrm>
            <a:off x="9368465" y="1533622"/>
            <a:ext cx="1956427" cy="9623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Note no data in Server’s system for this patient and measure so no resources returned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1447D-68B5-4C39-B3CC-B31F7134DC48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180708" y="2442726"/>
            <a:ext cx="3491" cy="107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464D613-60CE-4D58-A3FC-5904161E60D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16354" y="3909382"/>
            <a:ext cx="1396629" cy="1795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2555D1CD-2F4B-4CC0-B94D-2ED0919C3F39}"/>
              </a:ext>
            </a:extLst>
          </p:cNvPr>
          <p:cNvSpPr/>
          <p:nvPr/>
        </p:nvSpPr>
        <p:spPr>
          <a:xfrm>
            <a:off x="9585318" y="3458081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Bilateral Mastectomy</a:t>
            </a:r>
          </a:p>
          <a:p>
            <a:pPr algn="ctr"/>
            <a:r>
              <a:rPr lang="en-US" sz="1000" dirty="0"/>
              <a:t>8/2/2010</a:t>
            </a:r>
          </a:p>
          <a:p>
            <a:pPr algn="ctr"/>
            <a:r>
              <a:rPr lang="en-US" sz="1000" dirty="0"/>
              <a:t>Denominator Exclusion</a:t>
            </a:r>
            <a:endParaRPr lang="en-US" sz="16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EBDC5A-F99E-4A15-AA65-F4C1D38FD6EE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5116354" y="2052748"/>
            <a:ext cx="1396631" cy="1856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3B543-3208-4E95-AA9D-0EBC71D1833F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8377294" y="5057884"/>
            <a:ext cx="1212424" cy="64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8377294" y="5705245"/>
            <a:ext cx="1231597" cy="335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9137BA-4C1E-470D-9CE5-C3A73B892B8B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 flipV="1">
            <a:off x="8338206" y="3846511"/>
            <a:ext cx="1247112" cy="1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485867" y="293424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79550D5-89BE-4FBE-82D9-CB3521CF2D58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4174612" y="4297812"/>
            <a:ext cx="9587" cy="985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5112863" y="2044765"/>
            <a:ext cx="1400122" cy="7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CAE3AF3E-4461-4BF9-AD1A-870ECDBF5C9D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12863" y="2044765"/>
            <a:ext cx="1400120" cy="3660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112863" y="2044765"/>
            <a:ext cx="1361032" cy="18207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E8CF9B-7ACD-48E8-BB5C-C165C6517CEC}"/>
              </a:ext>
            </a:extLst>
          </p:cNvPr>
          <p:cNvCxnSpPr>
            <a:cxnSpLocks/>
            <a:stCxn id="4" idx="1"/>
            <a:endCxn id="13" idx="3"/>
          </p:cNvCxnSpPr>
          <p:nvPr/>
        </p:nvCxnSpPr>
        <p:spPr>
          <a:xfrm flipH="1">
            <a:off x="2353669" y="3909382"/>
            <a:ext cx="898374" cy="975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8C8ABBC1-0904-4EA0-8C65-AA8BE906F756}"/>
              </a:ext>
            </a:extLst>
          </p:cNvPr>
          <p:cNvCxnSpPr>
            <a:cxnSpLocks/>
            <a:stCxn id="90" idx="2"/>
            <a:endCxn id="13" idx="0"/>
          </p:cNvCxnSpPr>
          <p:nvPr/>
        </p:nvCxnSpPr>
        <p:spPr>
          <a:xfrm>
            <a:off x="1418023" y="3711105"/>
            <a:ext cx="3491" cy="77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EFFA89C-5A0F-43E9-8E5E-E7EFE761E46D}"/>
              </a:ext>
            </a:extLst>
          </p:cNvPr>
          <p:cNvSpPr txBox="1"/>
          <p:nvPr/>
        </p:nvSpPr>
        <p:spPr>
          <a:xfrm>
            <a:off x="440559" y="5625518"/>
            <a:ext cx="2075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*QI Core Patient is also pointed to by all GIC Measure Reports, QI Core Procedure, and QI Core  Lab Observations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5290B5F1-CC69-4E1F-9527-F65449A6A6EC}"/>
              </a:ext>
            </a:extLst>
          </p:cNvPr>
          <p:cNvCxnSpPr>
            <a:cxnSpLocks/>
            <a:stCxn id="4" idx="1"/>
            <a:endCxn id="90" idx="3"/>
          </p:cNvCxnSpPr>
          <p:nvPr/>
        </p:nvCxnSpPr>
        <p:spPr>
          <a:xfrm flipH="1" flipV="1">
            <a:off x="2350178" y="3322675"/>
            <a:ext cx="901865" cy="58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2396858" y="3440053"/>
            <a:ext cx="85153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section.entry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9984EC5-4D27-490C-94D4-8134C6A2E37D}"/>
              </a:ext>
            </a:extLst>
          </p:cNvPr>
          <p:cNvSpPr txBox="1"/>
          <p:nvPr/>
        </p:nvSpPr>
        <p:spPr>
          <a:xfrm>
            <a:off x="1142771" y="3924921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patient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0295861-70D2-48F2-A70D-BD6830F6561F}"/>
              </a:ext>
            </a:extLst>
          </p:cNvPr>
          <p:cNvSpPr txBox="1"/>
          <p:nvPr/>
        </p:nvSpPr>
        <p:spPr>
          <a:xfrm>
            <a:off x="2569013" y="4251846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subject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4254C16-5AD4-454F-B8DE-A78DB7317DD0}"/>
              </a:ext>
            </a:extLst>
          </p:cNvPr>
          <p:cNvSpPr txBox="1"/>
          <p:nvPr/>
        </p:nvSpPr>
        <p:spPr>
          <a:xfrm>
            <a:off x="3850155" y="4568002"/>
            <a:ext cx="79837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custodian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DC5E373-7EFD-4CA0-9108-834DD55A204E}"/>
              </a:ext>
            </a:extLst>
          </p:cNvPr>
          <p:cNvSpPr txBox="1"/>
          <p:nvPr/>
        </p:nvSpPr>
        <p:spPr>
          <a:xfrm>
            <a:off x="3912843" y="2797557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45027ED-24A2-40DB-9553-7009A7A32891}"/>
              </a:ext>
            </a:extLst>
          </p:cNvPr>
          <p:cNvSpPr txBox="1"/>
          <p:nvPr/>
        </p:nvSpPr>
        <p:spPr>
          <a:xfrm>
            <a:off x="5537634" y="1935547"/>
            <a:ext cx="503893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/>
              <a:t>entry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9059DA-7DB3-4460-90B7-CE9A7DFACF8F}"/>
              </a:ext>
            </a:extLst>
          </p:cNvPr>
          <p:cNvSpPr txBox="1"/>
          <p:nvPr/>
        </p:nvSpPr>
        <p:spPr>
          <a:xfrm>
            <a:off x="8392975" y="3714152"/>
            <a:ext cx="109211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EDA1EADE-5AFD-2B31-96BD-F517D1A6F431}"/>
              </a:ext>
            </a:extLst>
          </p:cNvPr>
          <p:cNvSpPr/>
          <p:nvPr/>
        </p:nvSpPr>
        <p:spPr>
          <a:xfrm>
            <a:off x="481670" y="163344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Detailed Care Gap Guidance 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6C3439-D8C2-9E40-8526-74058D1967B5}"/>
              </a:ext>
            </a:extLst>
          </p:cNvPr>
          <p:cNvCxnSpPr>
            <a:cxnSpLocks/>
            <a:stCxn id="90" idx="0"/>
            <a:endCxn id="9" idx="2"/>
          </p:cNvCxnSpPr>
          <p:nvPr/>
        </p:nvCxnSpPr>
        <p:spPr>
          <a:xfrm flipH="1" flipV="1">
            <a:off x="1413826" y="2410308"/>
            <a:ext cx="4197" cy="523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30D58F7-98AF-3FF5-FFF3-5ED3AE9C25EF}"/>
              </a:ext>
            </a:extLst>
          </p:cNvPr>
          <p:cNvSpPr txBox="1"/>
          <p:nvPr/>
        </p:nvSpPr>
        <p:spPr>
          <a:xfrm>
            <a:off x="912750" y="2569817"/>
            <a:ext cx="1180791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evidence.detail</a:t>
            </a:r>
          </a:p>
        </p:txBody>
      </p:sp>
    </p:spTree>
    <p:extLst>
      <p:ext uri="{BB962C8B-B14F-4D97-AF65-F5344CB8AC3E}">
        <p14:creationId xmlns:p14="http://schemas.microsoft.com/office/powerpoint/2010/main" val="391793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EA2043-1279-476E-9F6F-1307AFED5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762" y="1062324"/>
            <a:ext cx="8390476" cy="458095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F7ACD9-291B-4C9D-A9C3-7A57A0BD6D58}"/>
              </a:ext>
            </a:extLst>
          </p:cNvPr>
          <p:cNvSpPr/>
          <p:nvPr/>
        </p:nvSpPr>
        <p:spPr>
          <a:xfrm>
            <a:off x="5007429" y="3189514"/>
            <a:ext cx="5486400" cy="252996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29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452805" y="4179338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289744" y="3649849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70144" y="4622581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378432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42E7F-356D-4C5B-8FAD-4D8D6B890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027" y="2354576"/>
            <a:ext cx="1802901" cy="1802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36AFD-DE51-4AC7-9534-61142D3BA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" r="-1"/>
          <a:stretch/>
        </p:blipFill>
        <p:spPr>
          <a:xfrm>
            <a:off x="7365944" y="2033636"/>
            <a:ext cx="2329908" cy="171219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297D29-ECA1-4F69-A845-9B13C14FDA67}"/>
              </a:ext>
            </a:extLst>
          </p:cNvPr>
          <p:cNvSpPr/>
          <p:nvPr/>
        </p:nvSpPr>
        <p:spPr>
          <a:xfrm>
            <a:off x="9334500" y="2735580"/>
            <a:ext cx="449580" cy="35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03F80-75AD-4693-9EDF-0CD7524AA6F1}"/>
              </a:ext>
            </a:extLst>
          </p:cNvPr>
          <p:cNvSpPr txBox="1"/>
          <p:nvPr/>
        </p:nvSpPr>
        <p:spPr>
          <a:xfrm>
            <a:off x="4792145" y="1016162"/>
            <a:ext cx="20887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688A2-85AF-44CB-998D-FB3C5B25AAC2}"/>
              </a:ext>
            </a:extLst>
          </p:cNvPr>
          <p:cNvSpPr txBox="1"/>
          <p:nvPr/>
        </p:nvSpPr>
        <p:spPr>
          <a:xfrm>
            <a:off x="4832306" y="5361245"/>
            <a:ext cx="2185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Response</a:t>
            </a:r>
          </a:p>
        </p:txBody>
      </p:sp>
    </p:spTree>
    <p:extLst>
      <p:ext uri="{BB962C8B-B14F-4D97-AF65-F5344CB8AC3E}">
        <p14:creationId xmlns:p14="http://schemas.microsoft.com/office/powerpoint/2010/main" val="1889288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ED3F-20A4-D4EE-9EA3-E614610D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1FC47-14AF-B068-BA78-1D3AFA02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(document)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105B7-F671-762C-AA0E-B8DB96E59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CBB3FC02-660B-CB0B-2238-AA8D2C33527B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EE36308E-622C-F64B-2F67-9E7B3D22B9BA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98A80350-D873-C321-7D28-7015AAFD0A0C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FD584335-0484-4307-AE4E-F7E97F8AC581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6FF416B1-7F47-BD79-AF53-3C0BBD95176A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75DB4C0-EB2F-E8BA-C158-5E783375EDD4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8B1EB943-92C4-83D3-FF8E-72A914C1E18F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FD0B95BB-0BA8-7C0A-6D24-36C3C5A2B5E4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8FDDAE9-9578-120A-C30C-69A4BF3754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4363B30E-2A39-36B6-8E8D-D3672B7D3E25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08DE87E-DE97-C26A-0F5B-EC9F3AB62F23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6A06D09-4EBF-F68F-C158-6759FC92BBEF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EB4B5463-8FA6-CDA0-A739-CAEFB2F54A70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841A4C1-DED2-8FF2-0414-782E12CEDB81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BCB60AC-79F0-CEF0-A450-133D1A765A6B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3FBFD297-9606-2D25-6BA4-9CF2EF72D551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71AA692-4984-217A-2B35-92BA8056F4F2}"/>
              </a:ext>
            </a:extLst>
          </p:cNvPr>
          <p:cNvCxnSpPr>
            <a:cxnSpLocks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27122A1-7723-71BB-3EE9-81BD503758D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93FDB6B-69B1-44BD-728D-DF680B22757C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8A87B7E-E451-19D8-C479-6D12AEFF86BB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6B6C959-DB0E-3405-7EC8-2E388D764CBD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192B48F-64A2-6CED-B0CC-06DCD8467A9B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48B7723-E241-E5A4-A65E-8BF83C1D9258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B285BB8B-D0EE-0FC7-8D38-5AE2849BD4A3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C69064EB-6226-9CA1-BCA8-38EEB5DCE9E9}"/>
              </a:ext>
            </a:extLst>
          </p:cNvPr>
          <p:cNvCxnSpPr>
            <a:cxnSpLocks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2F348932-B465-88B6-FDC1-E02054483C76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BE936EF-B293-993E-DFB1-13304ECFC054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916B94D6-857D-C423-8782-4577E2F8B689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97E9D-26FE-A786-D1FB-B852CE5EFFC9}"/>
              </a:ext>
            </a:extLst>
          </p:cNvPr>
          <p:cNvCxnSpPr>
            <a:cxnSpLocks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E7E638E0-F5F4-226A-D48F-BC388C6C61EE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C7E7B304-6EC3-695A-6CE8-55882D29D690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CDFE09B4-1B4F-1261-B898-6DBC5AA54D7E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538BEEBE-E20D-0C6A-7F06-ECF5BDE2FC2D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DA0B69F-B9EB-4269-C8DC-7B1A1B4E92A9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AA7B40CD-768F-518F-DB94-8914434AB873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E4FB34CA-D210-C46A-F4A9-C86FA6099F0A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6067B6DF-7C1A-6E61-2841-52A30DD1CF34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26F9CE3A-EE8C-68C2-127E-64EEB7E1161E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9D77868B-2FDE-EF32-219F-047E2A3F973C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C8BAFFFD-4D52-6B31-2BC6-B7B1CFF0DFF1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049911D4-C0FA-BC8E-9E5F-01AFB4685F3E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8E435ED-1E65-93D0-3F5D-054A66607F62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18BA8CA6-851E-77D1-DB3C-3AFA4A59F1CC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4C82A02-04BB-5D53-D412-2B464BBD1951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130A3C16-2D3E-3435-DF4B-16C2E0FF3157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3E59222A-630A-6477-4D3C-09DEADF1BC16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617E568-82BF-2B81-5D7E-EDE8211B2A34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67A6B95-682D-E0E7-B7E3-BC0C03B64EDA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862FD6-FA1F-146C-D846-8A721EBCCCBD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CBD524-3F01-0C12-59AE-70D4841B748F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3579072-076C-AE81-DA9A-93D66B166817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AE2FCA-43DC-573F-5F0F-7CE920E91F68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B4284E4-179D-F9C7-5869-679221D11517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A92DF0BA-0AEF-E27B-45BA-A77B08FA68BF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571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(collection)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E6884AB-C746-476C-9C61-B73BD4DBC3EF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C33D804-3ACB-4A94-BAA0-8AC1C285E5BC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459A40C6-A2DD-4FF8-A8AA-DA7682C8A67F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6D41B1-7258-4F0F-BD63-042E925EE294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F96B318-5A4B-490A-BA0D-87129D69D185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66370999-9EAF-4768-A4BF-B743314184F8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  <a:p>
            <a:pPr algn="ctr"/>
            <a:r>
              <a:rPr lang="en-US" sz="1600" dirty="0"/>
              <a:t>(optional)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132ADA7-1AEE-4182-88B6-4898C928D30B}"/>
              </a:ext>
            </a:extLst>
          </p:cNvPr>
          <p:cNvCxnSpPr>
            <a:cxnSpLocks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80E0FFF-2155-45C0-BD84-1E30909C217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76230D8-FAA2-4C41-9819-AEEAAC683528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BF7FE0F-DC11-4650-A139-C73CA2F5B295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589B71B-497C-4B6A-B133-8D7EB092F1E9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023FF68-6223-4988-8E15-2A475B7F6195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F4B3521-2AD4-4975-AE71-FC0D0133E2AC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AB93EFC4-AD7F-4689-8E15-D13CBD3E9BE7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0D686F3-6539-405B-BAAF-D5A603068524}"/>
              </a:ext>
            </a:extLst>
          </p:cNvPr>
          <p:cNvCxnSpPr>
            <a:cxnSpLocks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4385A6E7-8368-40E5-97F6-C06276CE1254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C2C6B30-F47E-4161-A251-7799E31B4EE0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6D38B2BC-FB05-4D16-9C6C-C5C12FAF8574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7CC7B4FF-EF57-467E-999A-78BDDB6C9EED}"/>
              </a:ext>
            </a:extLst>
          </p:cNvPr>
          <p:cNvCxnSpPr>
            <a:cxnSpLocks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8B791539-1D4C-45FA-8E4A-D6DB6040AEF7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2853D2EF-8C54-4A72-864B-6FF6283D937D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BC298C4-779B-414A-B83A-15F432433507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BD02CF3-118B-41D2-BE0E-A1F885F30F86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8603A9BC-6159-43CB-81EC-3FBEFABD8E5B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6FF4F10-16CA-4FC2-AA3E-151F1DD0027B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49C6274A-C911-43A8-97FA-957680B10B45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F136370B-4A97-4D31-AAB8-7E59EE928ED6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8D956A0-4AE2-4049-8667-1421E2E7C549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58BDE12F-0BF3-44BA-863C-8B30C45CCA61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D510BC8-AC80-4EE3-BBF3-C85306968137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8CC1E8F0-D6E6-459F-AE42-7CE04BCBDCB1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FA8CED-29D5-4F10-A16E-5BC46614DAC0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76BD1566-C29F-40E8-B8CB-28713C0DF3B9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</a:p>
          <a:p>
            <a:pPr algn="ctr"/>
            <a:r>
              <a:rPr lang="en-US" sz="1600" dirty="0"/>
              <a:t>(optional)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321B26-418D-41D8-946E-2F335E536499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341F127E-5432-456A-B2D0-3ABA5714DCEE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B1BEE8AD-D4A3-4CF5-8EC9-9D3F1C58D9B9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886C1C2-F3A0-44EF-BCA7-C2527812A692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F6ED974-7528-4276-AACC-2C39662FF1B6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04C83-75AB-47C8-8624-9AA7DFD52B44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8E9BE-BEC5-74A4-6D39-6E4B7FEF1A59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9B42CF-E79F-BCEF-3D5C-17930844E158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3C3EFB7-1DC4-13C3-6A53-FB0898F58256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21EA5E1-A303-21CE-FB5F-4B36ED3B403A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17C5488F-99E3-AB38-A0B6-6E2F49AEA5A9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  <a:p>
            <a:pPr algn="ctr"/>
            <a:r>
              <a:rPr lang="en-US" sz="1600" dirty="0"/>
              <a:t>(optional)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9677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568</Words>
  <Application>Microsoft Office PowerPoint</Application>
  <PresentationFormat>Widescreen</PresentationFormat>
  <Paragraphs>155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Figure 1-5 Gaps in Care Reporting Scenario</vt:lpstr>
      <vt:lpstr>Gaps in Care Reporting Scenario</vt:lpstr>
      <vt:lpstr>PowerPoint Presentation</vt:lpstr>
      <vt:lpstr>PowerPoint Presentation</vt:lpstr>
      <vt:lpstr>Gaps in Care Resources</vt:lpstr>
      <vt:lpstr>PowerPoint Presentation</vt:lpstr>
      <vt:lpstr>PowerPoint Presentation</vt:lpstr>
      <vt:lpstr>DEQM Gaps In Care Bundle (document)</vt:lpstr>
      <vt:lpstr>DEQM Gaps In Care Bundle (collection)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Michaelsen, Linda J</dc:creator>
  <cp:lastModifiedBy>Bryn Rhodes</cp:lastModifiedBy>
  <cp:revision>31</cp:revision>
  <dcterms:created xsi:type="dcterms:W3CDTF">2020-07-08T21:07:53Z</dcterms:created>
  <dcterms:modified xsi:type="dcterms:W3CDTF">2026-08-11T18:56:15Z</dcterms:modified>
</cp:coreProperties>
</file>