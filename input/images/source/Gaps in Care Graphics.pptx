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69" r:id="rId3"/>
    <p:sldId id="258" r:id="rId4"/>
    <p:sldId id="259" r:id="rId5"/>
    <p:sldId id="264" r:id="rId6"/>
    <p:sldId id="256" r:id="rId7"/>
    <p:sldId id="265" r:id="rId8"/>
    <p:sldId id="270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7FAEFA7-1D50-4BD5-A43F-0A42BB396FC2}">
          <p14:sldIdLst>
            <p14:sldId id="257"/>
            <p14:sldId id="269"/>
            <p14:sldId id="258"/>
            <p14:sldId id="259"/>
            <p14:sldId id="264"/>
            <p14:sldId id="256"/>
            <p14:sldId id="265"/>
            <p14:sldId id="270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80544" autoAdjust="0"/>
  </p:normalViewPr>
  <p:slideViewPr>
    <p:cSldViewPr snapToGrid="0">
      <p:cViewPr varScale="1">
        <p:scale>
          <a:sx n="64" d="100"/>
          <a:sy n="64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E6B6D7-20D6-4E9A-B6E5-85297A5570A7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C01152-882A-4CAB-AF5B-0D5B05615C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672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(FHIR-57016)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C01152-882A-4CAB-AF5B-0D5B05615C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4688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DF49F-1116-8534-17A3-E899FB618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A3D7D1-B032-99F4-F6BF-E0EAD7A861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40DC31-DE5C-537D-27F8-B6EEB62284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11/23/2022: Added this slide to address https://jira.hl7.org/browse/FHIR-33175 as part of the STU4-ballot (to show Bundle including all referenced patient resources and </a:t>
            </a:r>
            <a:r>
              <a:rPr lang="en-US" sz="1200" dirty="0" err="1"/>
              <a:t>detectedIssue</a:t>
            </a:r>
            <a:r>
              <a:rPr lang="en-US" sz="1200" dirty="0"/>
              <a:t> as entries)</a:t>
            </a:r>
            <a:br>
              <a:rPr lang="en-US" sz="1200" dirty="0"/>
            </a:br>
            <a:br>
              <a:rPr lang="en-US" sz="1400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B135C-19FA-325D-850C-73C7DF7A23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C01152-882A-4CAB-AF5B-0D5B05615C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5654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11/23/2022: Added this slide to address https://jira.hl7.org/browse/FHIR-33175 as part of the STU4-ballot (to show Bundle including all referenced patient resources and </a:t>
            </a:r>
            <a:r>
              <a:rPr lang="en-US" sz="1200" dirty="0" err="1"/>
              <a:t>detectedIssue</a:t>
            </a:r>
            <a:r>
              <a:rPr lang="en-US" sz="1200" dirty="0"/>
              <a:t> as entries)</a:t>
            </a:r>
            <a:br>
              <a:rPr lang="en-US" sz="1200" dirty="0"/>
            </a:br>
            <a:br>
              <a:rPr lang="en-US" sz="1400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C01152-882A-4CAB-AF5B-0D5B05615C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412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13006-111D-4004-8F92-98AA29A5C6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A3CCA5-A6F9-4500-B381-0522A57AF6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5DBFC-1CF0-40AF-B8BC-13B3FF01F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D49B-BC6D-4065-97F6-E22D565E4F2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C2376-52A7-47C4-BF56-A0F52FCE0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5E2C1-3E38-45EC-863F-237309FAB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BE34-6527-4794-968A-83ED6B00B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49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5CD3C-E4B9-4CB0-8961-2AFA09A64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9FA61-078C-4032-A0B4-0658935E6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63894-3598-4B07-A94B-0ED728EDE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D49B-BC6D-4065-97F6-E22D565E4F2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35E61-E4CD-438C-B2C0-732529361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8CC86-6527-48E7-AF10-956CD96D5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BE34-6527-4794-968A-83ED6B00B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959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A90F2-6AD5-45EF-88FB-8ACE4EB37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588FD4-54A2-4F3C-822D-E8CAB69EE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522A0-C892-431D-A6D3-8BB00774A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D49B-BC6D-4065-97F6-E22D565E4F2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B38CE-D566-4AE9-96DD-3BB8BBD2F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FDCA4-D6D0-49A8-B797-0FD568DB0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BE34-6527-4794-968A-83ED6B00B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138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56DF7-DDDD-4803-9004-487A49B16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4CAF4-43DB-466E-A5BF-B38DE99E1B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59A59-C77C-4AB6-9110-BBAE25B753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CBEB2E-A7D5-49BA-B9C6-A5FC33B85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D49B-BC6D-4065-97F6-E22D565E4F2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38B996-F8B4-4834-805F-30212B09A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1D2AC-094F-40DA-BBFE-DBF8F7A83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BE34-6527-4794-968A-83ED6B00B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404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963B0-967E-44F1-BF6A-C98833453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2D193-B5E2-4F26-B992-CEB2E9E84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A38F47-D892-4957-A4CC-A005292370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230171-5794-47BD-AC15-79F202042D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B24ACC-E511-4B9A-AECF-7B26C51AA8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4D7FD4-B7D7-4C39-B652-76F5EE069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D49B-BC6D-4065-97F6-E22D565E4F2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0C4E26-4B74-4210-8713-5B7174B19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579515-214B-44A4-9A94-9670884D2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BE34-6527-4794-968A-83ED6B00B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45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42F64-4E74-4A7E-8B30-8E8BE6D4D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049FE8-9BF1-484E-9444-6FD8DC155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D49B-BC6D-4065-97F6-E22D565E4F2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BE7F3D-F7DA-40FA-B83B-D372D7EA9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702C1E-1BAA-4E60-9621-100518C73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BE34-6527-4794-968A-83ED6B00B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280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B91C8A-0C15-4F9C-A867-7414B5247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D49B-BC6D-4065-97F6-E22D565E4F2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B4E745-9C10-4332-9157-BA92C624B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FDD6FF-7962-4E0D-A2B3-A14EE441E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BE34-6527-4794-968A-83ED6B00B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805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4D5C7-F5B4-4A04-BBEC-09C3F0C5D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10F32-282E-4A26-B8E9-98646780E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53BD40-C6B6-475B-AEDB-D8A910DF44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51D4E-795F-479F-A70B-5B3D2B93C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D49B-BC6D-4065-97F6-E22D565E4F2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3E3194-570F-4F19-B099-9C5289730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4631EE-CBEC-40E3-9B2C-FF135E51E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BE34-6527-4794-968A-83ED6B00B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908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13EA2-40EC-479A-BEA4-74FBD8712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2466C5-4743-42DC-8E26-3A1484A7FA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EE7D60-05F3-4DFC-B41C-65D6D9B35D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E97FFB-C46D-4769-921F-8C91730BB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D49B-BC6D-4065-97F6-E22D565E4F2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83F4BE-53B0-45EC-AB79-12D6E4E43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8E82BD-BCF4-48CB-A601-20D770CA8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BE34-6527-4794-968A-83ED6B00B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292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6923C-0CB6-4B01-9184-D1606C3F1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6ABC16-9341-4F81-BFF8-E9A06DFB4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2830B-8E54-44CB-B821-FA9181A5B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D49B-BC6D-4065-97F6-E22D565E4F2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719CE-C0DB-4822-B23B-1240EA695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FE33E-16DA-42E4-A498-0135C23EC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BE34-6527-4794-968A-83ED6B00B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47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33FEC0-F094-4C89-9AC5-0EB21235C8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4374FB-0E6E-445F-BC03-22A508421D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911ED-4BF1-45FE-8D37-F96ACFA94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D49B-BC6D-4065-97F6-E22D565E4F2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9BF97-195E-442B-9BF5-7625A98D7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3EBDF-348E-4F83-AF55-CBCF4130D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BE34-6527-4794-968A-83ED6B00B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892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70A8A0-CD93-4F6D-895B-B5DA2C42F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378EE-3E39-4E8F-98F8-E1EE9E06F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18BF0-F4A4-41D5-A7A5-ED3C6BF835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EBD49B-BC6D-4065-97F6-E22D565E4F2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CF2B1-00F9-4820-AF7F-BD0438CA43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7532E7-C454-432F-9EE8-892009707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B4BE34-6527-4794-968A-83ED6B00B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853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C2BD032-5E93-4CA6-8D3A-9C491E326572}"/>
              </a:ext>
            </a:extLst>
          </p:cNvPr>
          <p:cNvSpPr/>
          <p:nvPr/>
        </p:nvSpPr>
        <p:spPr>
          <a:xfrm>
            <a:off x="1242874" y="2192784"/>
            <a:ext cx="10433311" cy="403217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374245-25B3-4FA2-A0B7-92212D910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1-5 Gaps in Care Reporting Scenario</a:t>
            </a:r>
          </a:p>
        </p:txBody>
      </p:sp>
      <p:sp>
        <p:nvSpPr>
          <p:cNvPr id="14" name="Arrow: U-Turn 13">
            <a:extLst>
              <a:ext uri="{FF2B5EF4-FFF2-40B4-BE49-F238E27FC236}">
                <a16:creationId xmlns:a16="http://schemas.microsoft.com/office/drawing/2014/main" id="{E7A6692E-AF7F-4E93-825B-F1C6EAE5096A}"/>
              </a:ext>
            </a:extLst>
          </p:cNvPr>
          <p:cNvSpPr/>
          <p:nvPr/>
        </p:nvSpPr>
        <p:spPr>
          <a:xfrm>
            <a:off x="3531577" y="3016251"/>
            <a:ext cx="5427785" cy="961292"/>
          </a:xfrm>
          <a:prstGeom prst="uturn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Arrow: U-Turn 14">
            <a:extLst>
              <a:ext uri="{FF2B5EF4-FFF2-40B4-BE49-F238E27FC236}">
                <a16:creationId xmlns:a16="http://schemas.microsoft.com/office/drawing/2014/main" id="{79CAF82E-B6E2-4DF6-87A3-5E875E82F0A9}"/>
              </a:ext>
            </a:extLst>
          </p:cNvPr>
          <p:cNvSpPr/>
          <p:nvPr/>
        </p:nvSpPr>
        <p:spPr>
          <a:xfrm flipH="1" flipV="1">
            <a:off x="3346939" y="4360258"/>
            <a:ext cx="5498122" cy="1043353"/>
          </a:xfrm>
          <a:prstGeom prst="uturn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9A95AEE-78F5-4A8F-A338-8CFC1E4A457E}"/>
              </a:ext>
            </a:extLst>
          </p:cNvPr>
          <p:cNvSpPr/>
          <p:nvPr/>
        </p:nvSpPr>
        <p:spPr>
          <a:xfrm>
            <a:off x="2730745" y="3661388"/>
            <a:ext cx="1992923" cy="96129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Client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C5F827A-3D07-44CB-A3B3-105DD19C0E5D}"/>
              </a:ext>
            </a:extLst>
          </p:cNvPr>
          <p:cNvSpPr/>
          <p:nvPr/>
        </p:nvSpPr>
        <p:spPr>
          <a:xfrm>
            <a:off x="7759211" y="3729285"/>
            <a:ext cx="1992923" cy="96129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Server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B52AFC1-25B9-4D0D-8631-F99658C75EDE}"/>
              </a:ext>
            </a:extLst>
          </p:cNvPr>
          <p:cNvSpPr/>
          <p:nvPr/>
        </p:nvSpPr>
        <p:spPr>
          <a:xfrm>
            <a:off x="4132384" y="2574380"/>
            <a:ext cx="3927231" cy="37397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Request $care-gaps Operation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E376FAE-3409-4BAA-8930-8E8CA8E6E99C}"/>
              </a:ext>
            </a:extLst>
          </p:cNvPr>
          <p:cNvSpPr/>
          <p:nvPr/>
        </p:nvSpPr>
        <p:spPr>
          <a:xfrm>
            <a:off x="4293576" y="5551436"/>
            <a:ext cx="3903785" cy="38557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Return DEQM </a:t>
            </a:r>
            <a:r>
              <a:rPr lang="en-US" dirty="0"/>
              <a:t>Gaps in Care Bundle(s)</a:t>
            </a:r>
          </a:p>
        </p:txBody>
      </p:sp>
    </p:spTree>
    <p:extLst>
      <p:ext uri="{BB962C8B-B14F-4D97-AF65-F5344CB8AC3E}">
        <p14:creationId xmlns:p14="http://schemas.microsoft.com/office/powerpoint/2010/main" val="1951151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4832E-F189-E2D1-E227-6A3479912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7B44D90-4F32-303A-5005-A9A22C4C0EBA}"/>
              </a:ext>
            </a:extLst>
          </p:cNvPr>
          <p:cNvSpPr/>
          <p:nvPr/>
        </p:nvSpPr>
        <p:spPr>
          <a:xfrm>
            <a:off x="1242874" y="2192784"/>
            <a:ext cx="10433311" cy="4032170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F045A8-8645-0F40-9D19-1BB2BEFA7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Gaps in Care Reporting Scenario</a:t>
            </a:r>
            <a:endParaRPr lang="en-US" sz="2000" dirty="0"/>
          </a:p>
        </p:txBody>
      </p:sp>
      <p:sp>
        <p:nvSpPr>
          <p:cNvPr id="14" name="Arrow: U-Turn 13">
            <a:extLst>
              <a:ext uri="{FF2B5EF4-FFF2-40B4-BE49-F238E27FC236}">
                <a16:creationId xmlns:a16="http://schemas.microsoft.com/office/drawing/2014/main" id="{91B427F8-64C0-8BC5-7242-B1CA0BEA47BC}"/>
              </a:ext>
            </a:extLst>
          </p:cNvPr>
          <p:cNvSpPr/>
          <p:nvPr/>
        </p:nvSpPr>
        <p:spPr>
          <a:xfrm>
            <a:off x="3531577" y="3262427"/>
            <a:ext cx="5486400" cy="365760"/>
          </a:xfrm>
          <a:prstGeom prst="uturnArrow">
            <a:avLst>
              <a:gd name="adj1" fmla="val 25000"/>
              <a:gd name="adj2" fmla="val 25000"/>
              <a:gd name="adj3" fmla="val 28205"/>
              <a:gd name="adj4" fmla="val 43750"/>
              <a:gd name="adj5" fmla="val 99039"/>
            </a:avLst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Arrow: U-Turn 14">
            <a:extLst>
              <a:ext uri="{FF2B5EF4-FFF2-40B4-BE49-F238E27FC236}">
                <a16:creationId xmlns:a16="http://schemas.microsoft.com/office/drawing/2014/main" id="{748D5C62-1065-3A54-03CA-F7577BBB2BFC}"/>
              </a:ext>
            </a:extLst>
          </p:cNvPr>
          <p:cNvSpPr/>
          <p:nvPr/>
        </p:nvSpPr>
        <p:spPr>
          <a:xfrm flipH="1" flipV="1">
            <a:off x="3531577" y="4662101"/>
            <a:ext cx="5486400" cy="365760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100000"/>
            </a:avLst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8AF8450-E3E6-93DD-705F-2E943FA06DF3}"/>
              </a:ext>
            </a:extLst>
          </p:cNvPr>
          <p:cNvSpPr/>
          <p:nvPr/>
        </p:nvSpPr>
        <p:spPr>
          <a:xfrm>
            <a:off x="2535115" y="3661388"/>
            <a:ext cx="1992923" cy="96129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Aptos" panose="020B0004020202020204" pitchFamily="34" charset="0"/>
              </a:rPr>
              <a:t>Client</a:t>
            </a:r>
            <a:endParaRPr lang="en-US" sz="2800" b="1" dirty="0"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D5BBAB4-D51A-D233-8EB0-164B4B318372}"/>
              </a:ext>
            </a:extLst>
          </p:cNvPr>
          <p:cNvSpPr/>
          <p:nvPr/>
        </p:nvSpPr>
        <p:spPr>
          <a:xfrm>
            <a:off x="8021515" y="3661388"/>
            <a:ext cx="1992923" cy="96129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Aptos" panose="020B0004020202020204" pitchFamily="34" charset="0"/>
              </a:rPr>
              <a:t>Server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B7811D7-15EA-7311-0487-B98B37B3A75C}"/>
              </a:ext>
            </a:extLst>
          </p:cNvPr>
          <p:cNvSpPr/>
          <p:nvPr/>
        </p:nvSpPr>
        <p:spPr>
          <a:xfrm>
            <a:off x="4606802" y="2885936"/>
            <a:ext cx="3335947" cy="37397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Request $care-gaps Operation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1B6E4B7-9506-F6BA-87EC-5CF00119A90F}"/>
              </a:ext>
            </a:extLst>
          </p:cNvPr>
          <p:cNvSpPr/>
          <p:nvPr/>
        </p:nvSpPr>
        <p:spPr>
          <a:xfrm>
            <a:off x="4322884" y="5024552"/>
            <a:ext cx="3903785" cy="38557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Return DEQM Gaps in Care Bundle(s)</a:t>
            </a:r>
          </a:p>
        </p:txBody>
      </p:sp>
    </p:spTree>
    <p:extLst>
      <p:ext uri="{BB962C8B-B14F-4D97-AF65-F5344CB8AC3E}">
        <p14:creationId xmlns:p14="http://schemas.microsoft.com/office/powerpoint/2010/main" val="65853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D593A1-C4E8-42AA-849B-3A82F0BBE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471" y="0"/>
            <a:ext cx="9177057" cy="68580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2DB2DFF4-C41B-4E00-AD77-D82560AC909C}"/>
              </a:ext>
            </a:extLst>
          </p:cNvPr>
          <p:cNvSpPr/>
          <p:nvPr/>
        </p:nvSpPr>
        <p:spPr>
          <a:xfrm rot="19268669">
            <a:off x="6291686" y="3427791"/>
            <a:ext cx="5122400" cy="265011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5615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B51DD9-4A88-4235-9BBC-6F8248D3C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228" y="2734686"/>
            <a:ext cx="1686160" cy="9050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2926AC-D41E-489E-9E28-5D845B96E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7986" y="2734686"/>
            <a:ext cx="1343212" cy="8954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6F7963-6581-43BE-9E7F-8BDA81784165}"/>
              </a:ext>
            </a:extLst>
          </p:cNvPr>
          <p:cNvSpPr txBox="1"/>
          <p:nvPr/>
        </p:nvSpPr>
        <p:spPr>
          <a:xfrm>
            <a:off x="2053508" y="2365354"/>
            <a:ext cx="2464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Clinical Care Systems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965FE0-68B6-4D06-8FE7-6D57A86A1386}"/>
              </a:ext>
            </a:extLst>
          </p:cNvPr>
          <p:cNvSpPr txBox="1"/>
          <p:nvPr/>
        </p:nvSpPr>
        <p:spPr>
          <a:xfrm>
            <a:off x="7397412" y="2390287"/>
            <a:ext cx="2464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Measurement Analytics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0364A5-2F61-491E-85C5-A45107F42F18}"/>
              </a:ext>
            </a:extLst>
          </p:cNvPr>
          <p:cNvSpPr txBox="1"/>
          <p:nvPr/>
        </p:nvSpPr>
        <p:spPr>
          <a:xfrm>
            <a:off x="2191868" y="3630161"/>
            <a:ext cx="19628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Provider Workflow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21BEA0-6F5D-41B6-A27E-8F3C8D414EAA}"/>
              </a:ext>
            </a:extLst>
          </p:cNvPr>
          <p:cNvSpPr txBox="1"/>
          <p:nvPr/>
        </p:nvSpPr>
        <p:spPr>
          <a:xfrm>
            <a:off x="7620942" y="3639687"/>
            <a:ext cx="26052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Payer, Reporting Vendor, or internal analytics (etc.)  Workflow</a:t>
            </a:r>
          </a:p>
        </p:txBody>
      </p:sp>
      <p:sp>
        <p:nvSpPr>
          <p:cNvPr id="15" name="Arrow: U-Turn 14">
            <a:extLst>
              <a:ext uri="{FF2B5EF4-FFF2-40B4-BE49-F238E27FC236}">
                <a16:creationId xmlns:a16="http://schemas.microsoft.com/office/drawing/2014/main" id="{FCB7ECAA-0639-4672-BDA9-A170E44587B7}"/>
              </a:ext>
            </a:extLst>
          </p:cNvPr>
          <p:cNvSpPr/>
          <p:nvPr/>
        </p:nvSpPr>
        <p:spPr>
          <a:xfrm rot="10800000">
            <a:off x="3173308" y="4470684"/>
            <a:ext cx="5503178" cy="1229114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Arrow: U-Turn 16">
            <a:extLst>
              <a:ext uri="{FF2B5EF4-FFF2-40B4-BE49-F238E27FC236}">
                <a16:creationId xmlns:a16="http://schemas.microsoft.com/office/drawing/2014/main" id="{C030E331-0328-48B5-A310-F7957778A8AB}"/>
              </a:ext>
            </a:extLst>
          </p:cNvPr>
          <p:cNvSpPr/>
          <p:nvPr/>
        </p:nvSpPr>
        <p:spPr>
          <a:xfrm>
            <a:off x="3173308" y="1053870"/>
            <a:ext cx="5503178" cy="1229114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BFFB6B-5BCD-4085-A7BC-0DE37F1FBD19}"/>
              </a:ext>
            </a:extLst>
          </p:cNvPr>
          <p:cNvSpPr txBox="1"/>
          <p:nvPr/>
        </p:nvSpPr>
        <p:spPr>
          <a:xfrm>
            <a:off x="4016388" y="4711043"/>
            <a:ext cx="394159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Based on the Measure criteria, the Measurement Analytics system, generates a report showing open or closed gaps of Patient(s) for that measure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7B7C70-EE1D-4FF4-999F-B17F95108ED0}"/>
              </a:ext>
            </a:extLst>
          </p:cNvPr>
          <p:cNvSpPr txBox="1"/>
          <p:nvPr/>
        </p:nvSpPr>
        <p:spPr>
          <a:xfrm>
            <a:off x="3954098" y="1474895"/>
            <a:ext cx="394159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Clinical Care Systems request a report on one or more patient’s Care Gap Information based on Measure(s) criteria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5717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AA7B3DF-9DB0-4B96-BD97-21C858567EE1}"/>
              </a:ext>
            </a:extLst>
          </p:cNvPr>
          <p:cNvCxnSpPr>
            <a:cxnSpLocks/>
            <a:stCxn id="4" idx="3"/>
            <a:endCxn id="19" idx="1"/>
          </p:cNvCxnSpPr>
          <p:nvPr/>
        </p:nvCxnSpPr>
        <p:spPr>
          <a:xfrm flipV="1">
            <a:off x="5116354" y="3865546"/>
            <a:ext cx="1357541" cy="438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B9C1C471-DB5F-48E8-887C-88A5C9B7C936}"/>
              </a:ext>
            </a:extLst>
          </p:cNvPr>
          <p:cNvSpPr txBox="1"/>
          <p:nvPr/>
        </p:nvSpPr>
        <p:spPr>
          <a:xfrm>
            <a:off x="8573464" y="5479177"/>
            <a:ext cx="1200459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b="1" dirty="0"/>
              <a:t>evaluateResources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ECBEBC19-2399-4EB5-8810-02FF1ACE01D9}"/>
              </a:ext>
            </a:extLst>
          </p:cNvPr>
          <p:cNvSpPr txBox="1"/>
          <p:nvPr/>
        </p:nvSpPr>
        <p:spPr>
          <a:xfrm>
            <a:off x="5241293" y="3696262"/>
            <a:ext cx="57337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b="1" dirty="0"/>
              <a:t>section.focus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FC9293-5253-4045-B6FF-0BF8D01B1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Gaps in Care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F4AA5-BD88-4606-ACB3-39118129A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676" y="1258338"/>
            <a:ext cx="11185124" cy="514246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3DEA0A30-6A6C-4FA4-B9FC-7A051391A0D6}"/>
              </a:ext>
            </a:extLst>
          </p:cNvPr>
          <p:cNvSpPr/>
          <p:nvPr/>
        </p:nvSpPr>
        <p:spPr>
          <a:xfrm>
            <a:off x="3252043" y="3520952"/>
            <a:ext cx="1864311" cy="776860"/>
          </a:xfrm>
          <a:prstGeom prst="flowChartProcess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GIC Composition</a:t>
            </a: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B7A7E221-C938-4426-AA48-B09EFF0C8A7E}"/>
              </a:ext>
            </a:extLst>
          </p:cNvPr>
          <p:cNvSpPr/>
          <p:nvPr/>
        </p:nvSpPr>
        <p:spPr>
          <a:xfrm>
            <a:off x="3248552" y="1646804"/>
            <a:ext cx="1864311" cy="795922"/>
          </a:xfrm>
          <a:prstGeom prst="flowChartProcess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GIC Bundle</a:t>
            </a: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C91FCB4F-F2B6-436E-9248-D1FB7A9503A1}"/>
              </a:ext>
            </a:extLst>
          </p:cNvPr>
          <p:cNvSpPr/>
          <p:nvPr/>
        </p:nvSpPr>
        <p:spPr>
          <a:xfrm>
            <a:off x="6512983" y="5316815"/>
            <a:ext cx="1864311" cy="776860"/>
          </a:xfrm>
          <a:prstGeom prst="flowChartProcess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GIC Measure Report  </a:t>
            </a:r>
            <a:r>
              <a:rPr lang="en-US" sz="1000" dirty="0"/>
              <a:t>Colorectal Cancer Screening</a:t>
            </a:r>
          </a:p>
          <a:p>
            <a:pPr algn="ctr"/>
            <a:r>
              <a:rPr lang="en-US" sz="1000" dirty="0"/>
              <a:t>Closed Gap</a:t>
            </a:r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C7500F27-C043-4884-B858-531EC9938AD3}"/>
              </a:ext>
            </a:extLst>
          </p:cNvPr>
          <p:cNvSpPr/>
          <p:nvPr/>
        </p:nvSpPr>
        <p:spPr>
          <a:xfrm>
            <a:off x="6512985" y="1664318"/>
            <a:ext cx="1864311" cy="776860"/>
          </a:xfrm>
          <a:prstGeom prst="flowChartProcess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GIC Measure Report  </a:t>
            </a:r>
            <a:r>
              <a:rPr lang="en-US" sz="1000" dirty="0"/>
              <a:t>Pneumococcal Flu Vaccine</a:t>
            </a:r>
          </a:p>
          <a:p>
            <a:pPr algn="ctr"/>
            <a:r>
              <a:rPr lang="en-US" sz="1000" dirty="0"/>
              <a:t>Open Gap</a:t>
            </a:r>
            <a:endParaRPr lang="en-US" sz="1600" dirty="0"/>
          </a:p>
        </p:txBody>
      </p:sp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7C494011-9B4B-4108-B2F1-32F5A7D22803}"/>
              </a:ext>
            </a:extLst>
          </p:cNvPr>
          <p:cNvSpPr/>
          <p:nvPr/>
        </p:nvSpPr>
        <p:spPr>
          <a:xfrm>
            <a:off x="489358" y="4486943"/>
            <a:ext cx="1864311" cy="795922"/>
          </a:xfrm>
          <a:prstGeom prst="flowChartProcess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QI Core Patient*</a:t>
            </a:r>
          </a:p>
          <a:p>
            <a:pPr algn="ctr"/>
            <a:r>
              <a:rPr lang="en-US" sz="900" dirty="0"/>
              <a:t>Age 63</a:t>
            </a:r>
          </a:p>
        </p:txBody>
      </p:sp>
      <p:sp>
        <p:nvSpPr>
          <p:cNvPr id="14" name="Flowchart: Process 13">
            <a:extLst>
              <a:ext uri="{FF2B5EF4-FFF2-40B4-BE49-F238E27FC236}">
                <a16:creationId xmlns:a16="http://schemas.microsoft.com/office/drawing/2014/main" id="{A19CA935-C43E-4C7B-959F-7553D355F5AF}"/>
              </a:ext>
            </a:extLst>
          </p:cNvPr>
          <p:cNvSpPr/>
          <p:nvPr/>
        </p:nvSpPr>
        <p:spPr>
          <a:xfrm>
            <a:off x="9589718" y="4652717"/>
            <a:ext cx="1864311" cy="810333"/>
          </a:xfrm>
          <a:prstGeom prst="flowChartProcess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QI Core Procedure</a:t>
            </a:r>
          </a:p>
          <a:p>
            <a:pPr algn="ctr"/>
            <a:r>
              <a:rPr lang="en-US" sz="1000" dirty="0"/>
              <a:t>Colonoscopy</a:t>
            </a:r>
          </a:p>
          <a:p>
            <a:pPr algn="ctr"/>
            <a:r>
              <a:rPr lang="en-US" sz="1000" dirty="0"/>
              <a:t>9/10/2018</a:t>
            </a:r>
          </a:p>
          <a:p>
            <a:pPr algn="ctr"/>
            <a:r>
              <a:rPr lang="en-US" sz="1000" dirty="0"/>
              <a:t>Numerator</a:t>
            </a:r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AAB520D8-1327-4035-B17F-8E435832F332}"/>
              </a:ext>
            </a:extLst>
          </p:cNvPr>
          <p:cNvSpPr/>
          <p:nvPr/>
        </p:nvSpPr>
        <p:spPr>
          <a:xfrm>
            <a:off x="9608891" y="5650790"/>
            <a:ext cx="1864310" cy="779355"/>
          </a:xfrm>
          <a:prstGeom prst="flowChartProcess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QI Lab Observation</a:t>
            </a:r>
          </a:p>
          <a:p>
            <a:pPr algn="ctr"/>
            <a:r>
              <a:rPr lang="en-US" sz="1000" dirty="0"/>
              <a:t>FOBT</a:t>
            </a:r>
          </a:p>
          <a:p>
            <a:pPr algn="ctr"/>
            <a:r>
              <a:rPr lang="en-US" sz="1000" dirty="0"/>
              <a:t>10/1/2019</a:t>
            </a:r>
          </a:p>
          <a:p>
            <a:pPr algn="ctr"/>
            <a:r>
              <a:rPr lang="en-US" sz="1000" dirty="0"/>
              <a:t>Numerator</a:t>
            </a:r>
          </a:p>
        </p:txBody>
      </p:sp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820EB801-38A6-47AA-A42B-B341458DA83D}"/>
              </a:ext>
            </a:extLst>
          </p:cNvPr>
          <p:cNvSpPr/>
          <p:nvPr/>
        </p:nvSpPr>
        <p:spPr>
          <a:xfrm>
            <a:off x="3242456" y="5282939"/>
            <a:ext cx="1864311" cy="747552"/>
          </a:xfrm>
          <a:prstGeom prst="flowChartProcess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QI Core Organization</a:t>
            </a:r>
          </a:p>
          <a:p>
            <a:pPr algn="ctr"/>
            <a:r>
              <a:rPr lang="en-US" sz="1000" dirty="0"/>
              <a:t>(example Payer)</a:t>
            </a:r>
          </a:p>
        </p:txBody>
      </p:sp>
      <p:sp>
        <p:nvSpPr>
          <p:cNvPr id="19" name="Flowchart: Process 18">
            <a:extLst>
              <a:ext uri="{FF2B5EF4-FFF2-40B4-BE49-F238E27FC236}">
                <a16:creationId xmlns:a16="http://schemas.microsoft.com/office/drawing/2014/main" id="{F4DCC147-F1CD-4EAF-9C73-16087FFCF623}"/>
              </a:ext>
            </a:extLst>
          </p:cNvPr>
          <p:cNvSpPr/>
          <p:nvPr/>
        </p:nvSpPr>
        <p:spPr>
          <a:xfrm>
            <a:off x="6473895" y="3491770"/>
            <a:ext cx="1864311" cy="747552"/>
          </a:xfrm>
          <a:prstGeom prst="flowChartProcess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GIC Measure Report  </a:t>
            </a:r>
            <a:r>
              <a:rPr lang="en-US" sz="1000" dirty="0"/>
              <a:t>Breast Cancer Screening</a:t>
            </a:r>
          </a:p>
          <a:p>
            <a:pPr algn="ctr"/>
            <a:r>
              <a:rPr lang="en-US" sz="1000" dirty="0"/>
              <a:t>Closed Gap</a:t>
            </a:r>
            <a:endParaRPr lang="en-US" sz="16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61DB9DC-D22B-48E0-8C9B-C862EBB7828B}"/>
              </a:ext>
            </a:extLst>
          </p:cNvPr>
          <p:cNvSpPr/>
          <p:nvPr/>
        </p:nvSpPr>
        <p:spPr>
          <a:xfrm>
            <a:off x="9368465" y="1533622"/>
            <a:ext cx="1956427" cy="96235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Note no data in Server’s system for this patient and measure so no resources returned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B41447D-68B5-4C39-B3CC-B31F7134DC48}"/>
              </a:ext>
            </a:extLst>
          </p:cNvPr>
          <p:cNvCxnSpPr>
            <a:cxnSpLocks/>
            <a:stCxn id="5" idx="2"/>
            <a:endCxn id="4" idx="0"/>
          </p:cNvCxnSpPr>
          <p:nvPr/>
        </p:nvCxnSpPr>
        <p:spPr>
          <a:xfrm>
            <a:off x="4180708" y="2442726"/>
            <a:ext cx="3491" cy="1078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464D613-60CE-4D58-A3FC-5904161E60D2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5116354" y="3909382"/>
            <a:ext cx="1396629" cy="17958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lowchart: Process 27">
            <a:extLst>
              <a:ext uri="{FF2B5EF4-FFF2-40B4-BE49-F238E27FC236}">
                <a16:creationId xmlns:a16="http://schemas.microsoft.com/office/drawing/2014/main" id="{2555D1CD-2F4B-4CC0-B94D-2ED0919C3F39}"/>
              </a:ext>
            </a:extLst>
          </p:cNvPr>
          <p:cNvSpPr/>
          <p:nvPr/>
        </p:nvSpPr>
        <p:spPr>
          <a:xfrm>
            <a:off x="9585318" y="3458081"/>
            <a:ext cx="1864311" cy="776860"/>
          </a:xfrm>
          <a:prstGeom prst="flowChartProcess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QI Core Procedure</a:t>
            </a:r>
          </a:p>
          <a:p>
            <a:pPr algn="ctr"/>
            <a:r>
              <a:rPr lang="en-US" sz="1000" dirty="0"/>
              <a:t>Bilateral Mastectomy</a:t>
            </a:r>
          </a:p>
          <a:p>
            <a:pPr algn="ctr"/>
            <a:r>
              <a:rPr lang="en-US" sz="1000" dirty="0"/>
              <a:t>8/2/2010</a:t>
            </a:r>
          </a:p>
          <a:p>
            <a:pPr algn="ctr"/>
            <a:r>
              <a:rPr lang="en-US" sz="1000" dirty="0"/>
              <a:t>Denominator Exclusion</a:t>
            </a:r>
            <a:endParaRPr lang="en-US" sz="16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DEBDC5A-F99E-4A15-AA65-F4C1D38FD6EE}"/>
              </a:ext>
            </a:extLst>
          </p:cNvPr>
          <p:cNvCxnSpPr>
            <a:cxnSpLocks/>
            <a:stCxn id="4" idx="3"/>
            <a:endCxn id="12" idx="1"/>
          </p:cNvCxnSpPr>
          <p:nvPr/>
        </p:nvCxnSpPr>
        <p:spPr>
          <a:xfrm flipV="1">
            <a:off x="5116354" y="2052748"/>
            <a:ext cx="1396631" cy="1856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113B543-3208-4E95-AA9D-0EBC71D1833F}"/>
              </a:ext>
            </a:extLst>
          </p:cNvPr>
          <p:cNvCxnSpPr>
            <a:cxnSpLocks/>
            <a:stCxn id="7" idx="3"/>
            <a:endCxn id="14" idx="1"/>
          </p:cNvCxnSpPr>
          <p:nvPr/>
        </p:nvCxnSpPr>
        <p:spPr>
          <a:xfrm flipV="1">
            <a:off x="8377294" y="5057884"/>
            <a:ext cx="1212424" cy="6473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CF496CA-7DA1-4920-B8A9-499D311987BA}"/>
              </a:ext>
            </a:extLst>
          </p:cNvPr>
          <p:cNvCxnSpPr>
            <a:cxnSpLocks/>
            <a:stCxn id="7" idx="3"/>
            <a:endCxn id="15" idx="1"/>
          </p:cNvCxnSpPr>
          <p:nvPr/>
        </p:nvCxnSpPr>
        <p:spPr>
          <a:xfrm>
            <a:off x="8377294" y="5705245"/>
            <a:ext cx="1231597" cy="3352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F9137BA-4C1E-470D-9CE5-C3A73B892B8B}"/>
              </a:ext>
            </a:extLst>
          </p:cNvPr>
          <p:cNvCxnSpPr>
            <a:cxnSpLocks/>
            <a:stCxn id="19" idx="3"/>
            <a:endCxn id="28" idx="1"/>
          </p:cNvCxnSpPr>
          <p:nvPr/>
        </p:nvCxnSpPr>
        <p:spPr>
          <a:xfrm flipV="1">
            <a:off x="8338206" y="3846511"/>
            <a:ext cx="1247112" cy="190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Flowchart: Process 89">
            <a:extLst>
              <a:ext uri="{FF2B5EF4-FFF2-40B4-BE49-F238E27FC236}">
                <a16:creationId xmlns:a16="http://schemas.microsoft.com/office/drawing/2014/main" id="{7A044D70-BFF3-405C-AFEC-F728F8A25F68}"/>
              </a:ext>
            </a:extLst>
          </p:cNvPr>
          <p:cNvSpPr/>
          <p:nvPr/>
        </p:nvSpPr>
        <p:spPr>
          <a:xfrm>
            <a:off x="485867" y="2934245"/>
            <a:ext cx="1864311" cy="776860"/>
          </a:xfrm>
          <a:prstGeom prst="flowChartProcess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GIC Detected Issue</a:t>
            </a: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879550D5-89BE-4FBE-82D9-CB3521CF2D58}"/>
              </a:ext>
            </a:extLst>
          </p:cNvPr>
          <p:cNvCxnSpPr>
            <a:cxnSpLocks/>
            <a:stCxn id="4" idx="2"/>
            <a:endCxn id="16" idx="0"/>
          </p:cNvCxnSpPr>
          <p:nvPr/>
        </p:nvCxnSpPr>
        <p:spPr>
          <a:xfrm flipH="1">
            <a:off x="4174612" y="4297812"/>
            <a:ext cx="9587" cy="985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CA185091-BF8F-45FC-9DB1-E755F7475568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>
            <a:off x="5112863" y="2044765"/>
            <a:ext cx="1400122" cy="79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CAE3AF3E-4461-4BF9-AD1A-870ECDBF5C9D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5112863" y="2044765"/>
            <a:ext cx="1400120" cy="36604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B0A502EB-4FA3-419A-B0EE-C00113470861}"/>
              </a:ext>
            </a:extLst>
          </p:cNvPr>
          <p:cNvCxnSpPr>
            <a:cxnSpLocks/>
            <a:stCxn id="5" idx="3"/>
            <a:endCxn id="19" idx="1"/>
          </p:cNvCxnSpPr>
          <p:nvPr/>
        </p:nvCxnSpPr>
        <p:spPr>
          <a:xfrm>
            <a:off x="5112863" y="2044765"/>
            <a:ext cx="1361032" cy="18207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ACE8CF9B-7ACD-48E8-BB5C-C165C6517CEC}"/>
              </a:ext>
            </a:extLst>
          </p:cNvPr>
          <p:cNvCxnSpPr>
            <a:cxnSpLocks/>
            <a:stCxn id="4" idx="1"/>
            <a:endCxn id="13" idx="3"/>
          </p:cNvCxnSpPr>
          <p:nvPr/>
        </p:nvCxnSpPr>
        <p:spPr>
          <a:xfrm flipH="1">
            <a:off x="2353669" y="3909382"/>
            <a:ext cx="898374" cy="975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8C8ABBC1-0904-4EA0-8C65-AA8BE906F756}"/>
              </a:ext>
            </a:extLst>
          </p:cNvPr>
          <p:cNvCxnSpPr>
            <a:cxnSpLocks/>
            <a:stCxn id="90" idx="2"/>
            <a:endCxn id="13" idx="0"/>
          </p:cNvCxnSpPr>
          <p:nvPr/>
        </p:nvCxnSpPr>
        <p:spPr>
          <a:xfrm>
            <a:off x="1418023" y="3711105"/>
            <a:ext cx="3491" cy="7758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3EFFA89C-5A0F-43E9-8E5E-E7EFE761E46D}"/>
              </a:ext>
            </a:extLst>
          </p:cNvPr>
          <p:cNvSpPr txBox="1"/>
          <p:nvPr/>
        </p:nvSpPr>
        <p:spPr>
          <a:xfrm>
            <a:off x="440559" y="5625518"/>
            <a:ext cx="20756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*QI Core Patient is also pointed to by all GIC Measure Reports, QI Core Procedure, and QI Core  Lab Observations</a:t>
            </a:r>
          </a:p>
        </p:txBody>
      </p: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5290B5F1-CC69-4E1F-9527-F65449A6A6EC}"/>
              </a:ext>
            </a:extLst>
          </p:cNvPr>
          <p:cNvCxnSpPr>
            <a:cxnSpLocks/>
            <a:stCxn id="4" idx="1"/>
            <a:endCxn id="90" idx="3"/>
          </p:cNvCxnSpPr>
          <p:nvPr/>
        </p:nvCxnSpPr>
        <p:spPr>
          <a:xfrm flipH="1" flipV="1">
            <a:off x="2350178" y="3322675"/>
            <a:ext cx="901865" cy="5867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TextBox 164">
            <a:extLst>
              <a:ext uri="{FF2B5EF4-FFF2-40B4-BE49-F238E27FC236}">
                <a16:creationId xmlns:a16="http://schemas.microsoft.com/office/drawing/2014/main" id="{8F126E68-CFBC-4650-89F4-8608C59D3052}"/>
              </a:ext>
            </a:extLst>
          </p:cNvPr>
          <p:cNvSpPr txBox="1"/>
          <p:nvPr/>
        </p:nvSpPr>
        <p:spPr>
          <a:xfrm>
            <a:off x="2396858" y="3440053"/>
            <a:ext cx="851536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b="1" dirty="0"/>
              <a:t>section.entry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89984EC5-4D27-490C-94D4-8134C6A2E37D}"/>
              </a:ext>
            </a:extLst>
          </p:cNvPr>
          <p:cNvSpPr txBox="1"/>
          <p:nvPr/>
        </p:nvSpPr>
        <p:spPr>
          <a:xfrm>
            <a:off x="1142771" y="3924921"/>
            <a:ext cx="573375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b="1" dirty="0"/>
              <a:t>patient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D0295861-70D2-48F2-A70D-BD6830F6561F}"/>
              </a:ext>
            </a:extLst>
          </p:cNvPr>
          <p:cNvSpPr txBox="1"/>
          <p:nvPr/>
        </p:nvSpPr>
        <p:spPr>
          <a:xfrm>
            <a:off x="2569013" y="4251846"/>
            <a:ext cx="573375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b="1" dirty="0"/>
              <a:t>subject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F4254C16-5AD4-454F-B8DE-A78DB7317DD0}"/>
              </a:ext>
            </a:extLst>
          </p:cNvPr>
          <p:cNvSpPr txBox="1"/>
          <p:nvPr/>
        </p:nvSpPr>
        <p:spPr>
          <a:xfrm>
            <a:off x="3850155" y="4568002"/>
            <a:ext cx="798376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b="1" dirty="0"/>
              <a:t>custodian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6DC5E373-7EFD-4CA0-9108-834DD55A204E}"/>
              </a:ext>
            </a:extLst>
          </p:cNvPr>
          <p:cNvSpPr txBox="1"/>
          <p:nvPr/>
        </p:nvSpPr>
        <p:spPr>
          <a:xfrm>
            <a:off x="3912843" y="2797557"/>
            <a:ext cx="573375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b="1" dirty="0"/>
              <a:t>entry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845027ED-24A2-40DB-9553-7009A7A32891}"/>
              </a:ext>
            </a:extLst>
          </p:cNvPr>
          <p:cNvSpPr txBox="1"/>
          <p:nvPr/>
        </p:nvSpPr>
        <p:spPr>
          <a:xfrm>
            <a:off x="5537634" y="1935547"/>
            <a:ext cx="503893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00" b="1" dirty="0"/>
              <a:t>entry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E9059DA-7DB3-4460-90B7-CE9A7DFACF8F}"/>
              </a:ext>
            </a:extLst>
          </p:cNvPr>
          <p:cNvSpPr txBox="1"/>
          <p:nvPr/>
        </p:nvSpPr>
        <p:spPr>
          <a:xfrm>
            <a:off x="8392975" y="3714152"/>
            <a:ext cx="1092114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b="1" dirty="0"/>
              <a:t>evaluateResources</a:t>
            </a:r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EDA1EADE-5AFD-2B31-96BD-F517D1A6F431}"/>
              </a:ext>
            </a:extLst>
          </p:cNvPr>
          <p:cNvSpPr/>
          <p:nvPr/>
        </p:nvSpPr>
        <p:spPr>
          <a:xfrm>
            <a:off x="481670" y="1633448"/>
            <a:ext cx="1864311" cy="776860"/>
          </a:xfrm>
          <a:prstGeom prst="flowChartProcess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Detailed Care Gap Guidance Response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F6C3439-D8C2-9E40-8526-74058D1967B5}"/>
              </a:ext>
            </a:extLst>
          </p:cNvPr>
          <p:cNvCxnSpPr>
            <a:cxnSpLocks/>
            <a:stCxn id="90" idx="0"/>
            <a:endCxn id="9" idx="2"/>
          </p:cNvCxnSpPr>
          <p:nvPr/>
        </p:nvCxnSpPr>
        <p:spPr>
          <a:xfrm flipH="1" flipV="1">
            <a:off x="1413826" y="2410308"/>
            <a:ext cx="4197" cy="523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30D58F7-98AF-3FF5-FFF3-5ED3AE9C25EF}"/>
              </a:ext>
            </a:extLst>
          </p:cNvPr>
          <p:cNvSpPr txBox="1"/>
          <p:nvPr/>
        </p:nvSpPr>
        <p:spPr>
          <a:xfrm>
            <a:off x="912750" y="2569817"/>
            <a:ext cx="1180791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b="1" dirty="0"/>
              <a:t>evidence.detail</a:t>
            </a:r>
          </a:p>
        </p:txBody>
      </p:sp>
    </p:spTree>
    <p:extLst>
      <p:ext uri="{BB962C8B-B14F-4D97-AF65-F5344CB8AC3E}">
        <p14:creationId xmlns:p14="http://schemas.microsoft.com/office/powerpoint/2010/main" val="3917934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EA2043-1279-476E-9F6F-1307AFED5C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762" y="1062324"/>
            <a:ext cx="8390476" cy="4580952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E2F7ACD9-291B-4C9D-A9C3-7A57A0BD6D58}"/>
              </a:ext>
            </a:extLst>
          </p:cNvPr>
          <p:cNvSpPr/>
          <p:nvPr/>
        </p:nvSpPr>
        <p:spPr>
          <a:xfrm>
            <a:off x="5007429" y="3189514"/>
            <a:ext cx="5486400" cy="252996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297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B0364A5-2F61-491E-85C5-A45107F42F18}"/>
              </a:ext>
            </a:extLst>
          </p:cNvPr>
          <p:cNvSpPr txBox="1"/>
          <p:nvPr/>
        </p:nvSpPr>
        <p:spPr>
          <a:xfrm>
            <a:off x="2452805" y="4179338"/>
            <a:ext cx="19628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Provider Workflow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21BEA0-6F5D-41B6-A27E-8F3C8D414EAA}"/>
              </a:ext>
            </a:extLst>
          </p:cNvPr>
          <p:cNvSpPr txBox="1"/>
          <p:nvPr/>
        </p:nvSpPr>
        <p:spPr>
          <a:xfrm>
            <a:off x="7289744" y="3649849"/>
            <a:ext cx="26052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Payer, Reporting Vendor, or internal analytics (etc.)  Workflow</a:t>
            </a:r>
          </a:p>
        </p:txBody>
      </p:sp>
      <p:sp>
        <p:nvSpPr>
          <p:cNvPr id="15" name="Arrow: U-Turn 14">
            <a:extLst>
              <a:ext uri="{FF2B5EF4-FFF2-40B4-BE49-F238E27FC236}">
                <a16:creationId xmlns:a16="http://schemas.microsoft.com/office/drawing/2014/main" id="{FCB7ECAA-0639-4672-BDA9-A170E44587B7}"/>
              </a:ext>
            </a:extLst>
          </p:cNvPr>
          <p:cNvSpPr/>
          <p:nvPr/>
        </p:nvSpPr>
        <p:spPr>
          <a:xfrm rot="10800000">
            <a:off x="3173308" y="4470684"/>
            <a:ext cx="5503178" cy="1229114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Arrow: U-Turn 16">
            <a:extLst>
              <a:ext uri="{FF2B5EF4-FFF2-40B4-BE49-F238E27FC236}">
                <a16:creationId xmlns:a16="http://schemas.microsoft.com/office/drawing/2014/main" id="{C030E331-0328-48B5-A310-F7957778A8AB}"/>
              </a:ext>
            </a:extLst>
          </p:cNvPr>
          <p:cNvSpPr/>
          <p:nvPr/>
        </p:nvSpPr>
        <p:spPr>
          <a:xfrm>
            <a:off x="3173308" y="1053870"/>
            <a:ext cx="5503178" cy="1229114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BFFB6B-5BCD-4085-A7BC-0DE37F1FBD19}"/>
              </a:ext>
            </a:extLst>
          </p:cNvPr>
          <p:cNvSpPr txBox="1"/>
          <p:nvPr/>
        </p:nvSpPr>
        <p:spPr>
          <a:xfrm>
            <a:off x="4070144" y="4622581"/>
            <a:ext cx="394159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Based on the Measure criteria, the Measurement Analytics system, generates a report showing open or closed gaps of Patient(s) for that measure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7B7C70-EE1D-4FF4-999F-B17F95108ED0}"/>
              </a:ext>
            </a:extLst>
          </p:cNvPr>
          <p:cNvSpPr txBox="1"/>
          <p:nvPr/>
        </p:nvSpPr>
        <p:spPr>
          <a:xfrm>
            <a:off x="3954098" y="1378432"/>
            <a:ext cx="394159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Clinical Care Systems request a report on one or more patient’s Care Gap Information based on Measure(s) criteria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242E7F-356D-4C5B-8FAD-4D8D6B890C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9027" y="2354576"/>
            <a:ext cx="1802901" cy="18029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D36AFD-DE51-4AC7-9534-61142D3BA0A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6" r="-1"/>
          <a:stretch/>
        </p:blipFill>
        <p:spPr>
          <a:xfrm>
            <a:off x="7365944" y="2033636"/>
            <a:ext cx="2329908" cy="171219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1297D29-ECA1-4F69-A845-9B13C14FDA67}"/>
              </a:ext>
            </a:extLst>
          </p:cNvPr>
          <p:cNvSpPr/>
          <p:nvPr/>
        </p:nvSpPr>
        <p:spPr>
          <a:xfrm>
            <a:off x="9334500" y="2735580"/>
            <a:ext cx="449580" cy="350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203F80-75AD-4693-9EDF-0CD7524AA6F1}"/>
              </a:ext>
            </a:extLst>
          </p:cNvPr>
          <p:cNvSpPr txBox="1"/>
          <p:nvPr/>
        </p:nvSpPr>
        <p:spPr>
          <a:xfrm>
            <a:off x="4792145" y="1016162"/>
            <a:ext cx="20887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Gaps in Care Request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E688A2-85AF-44CB-998D-FB3C5B25AAC2}"/>
              </a:ext>
            </a:extLst>
          </p:cNvPr>
          <p:cNvSpPr txBox="1"/>
          <p:nvPr/>
        </p:nvSpPr>
        <p:spPr>
          <a:xfrm>
            <a:off x="4832306" y="5361245"/>
            <a:ext cx="2185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Gaps in Care Response</a:t>
            </a:r>
          </a:p>
        </p:txBody>
      </p:sp>
    </p:spTree>
    <p:extLst>
      <p:ext uri="{BB962C8B-B14F-4D97-AF65-F5344CB8AC3E}">
        <p14:creationId xmlns:p14="http://schemas.microsoft.com/office/powerpoint/2010/main" val="1889288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1ED3F-20A4-D4EE-9EA3-E614610D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1FC47-14AF-B068-BA78-1D3AFA02A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56557" cy="1325563"/>
          </a:xfrm>
        </p:spPr>
        <p:txBody>
          <a:bodyPr/>
          <a:lstStyle/>
          <a:p>
            <a:r>
              <a:rPr lang="en-US" sz="3200" dirty="0"/>
              <a:t>DEQM Gaps In Care Bundle (document)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105B7-F671-762C-AA0E-B8DB96E59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406" y="1441841"/>
            <a:ext cx="11185124" cy="514246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CBB3FC02-660B-CB0B-2238-AA8D2C33527B}"/>
              </a:ext>
            </a:extLst>
          </p:cNvPr>
          <p:cNvSpPr/>
          <p:nvPr/>
        </p:nvSpPr>
        <p:spPr>
          <a:xfrm>
            <a:off x="563136" y="1820994"/>
            <a:ext cx="1864311" cy="611431"/>
          </a:xfrm>
          <a:prstGeom prst="flowChartProcess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GIC Bundle</a:t>
            </a: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EE36308E-622C-F64B-2F67-9E7B3D22B9BA}"/>
              </a:ext>
            </a:extLst>
          </p:cNvPr>
          <p:cNvSpPr/>
          <p:nvPr/>
        </p:nvSpPr>
        <p:spPr>
          <a:xfrm>
            <a:off x="3949210" y="2681763"/>
            <a:ext cx="1864311" cy="613637"/>
          </a:xfrm>
          <a:prstGeom prst="flowChartProcess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GIC Measure Report  </a:t>
            </a:r>
            <a:r>
              <a:rPr lang="en-US" sz="1000" dirty="0"/>
              <a:t>Colorectal Cancer Screening</a:t>
            </a:r>
          </a:p>
        </p:txBody>
      </p:sp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98A80350-D873-C321-7D28-7015AAFD0A0C}"/>
              </a:ext>
            </a:extLst>
          </p:cNvPr>
          <p:cNvSpPr/>
          <p:nvPr/>
        </p:nvSpPr>
        <p:spPr>
          <a:xfrm>
            <a:off x="3949209" y="3520726"/>
            <a:ext cx="1864311" cy="555563"/>
          </a:xfrm>
          <a:prstGeom prst="flowChartProcess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Patient</a:t>
            </a:r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FD584335-0484-4307-AE4E-F7E97F8AC581}"/>
              </a:ext>
            </a:extLst>
          </p:cNvPr>
          <p:cNvSpPr/>
          <p:nvPr/>
        </p:nvSpPr>
        <p:spPr>
          <a:xfrm>
            <a:off x="10169285" y="2782563"/>
            <a:ext cx="1864310" cy="688895"/>
          </a:xfrm>
          <a:prstGeom prst="flowChartProcess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Lab Observation</a:t>
            </a:r>
          </a:p>
          <a:p>
            <a:pPr algn="ctr"/>
            <a:r>
              <a:rPr lang="en-US" sz="1000" dirty="0"/>
              <a:t>FOBT</a:t>
            </a:r>
          </a:p>
        </p:txBody>
      </p:sp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6FF416B1-7F47-BD79-AF53-3C0BBD95176A}"/>
              </a:ext>
            </a:extLst>
          </p:cNvPr>
          <p:cNvSpPr/>
          <p:nvPr/>
        </p:nvSpPr>
        <p:spPr>
          <a:xfrm>
            <a:off x="3955723" y="5106004"/>
            <a:ext cx="1864311" cy="562122"/>
          </a:xfrm>
          <a:prstGeom prst="flowChartProcess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Organization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75DB4C0-EB2F-E8BA-C158-5E783375EDD4}"/>
              </a:ext>
            </a:extLst>
          </p:cNvPr>
          <p:cNvCxnSpPr>
            <a:cxnSpLocks/>
            <a:stCxn id="90" idx="3"/>
            <a:endCxn id="15" idx="1"/>
          </p:cNvCxnSpPr>
          <p:nvPr/>
        </p:nvCxnSpPr>
        <p:spPr>
          <a:xfrm flipV="1">
            <a:off x="8723427" y="3127011"/>
            <a:ext cx="1445858" cy="34873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Flowchart: Process 89">
            <a:extLst>
              <a:ext uri="{FF2B5EF4-FFF2-40B4-BE49-F238E27FC236}">
                <a16:creationId xmlns:a16="http://schemas.microsoft.com/office/drawing/2014/main" id="{8B1EB943-92C4-83D3-FF8E-72A914C1E18F}"/>
              </a:ext>
            </a:extLst>
          </p:cNvPr>
          <p:cNvSpPr/>
          <p:nvPr/>
        </p:nvSpPr>
        <p:spPr>
          <a:xfrm>
            <a:off x="6859116" y="3194688"/>
            <a:ext cx="1864311" cy="562122"/>
          </a:xfrm>
          <a:prstGeom prst="flowChartProcess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GIC Measure Report</a:t>
            </a:r>
          </a:p>
          <a:p>
            <a:pPr algn="ctr"/>
            <a:r>
              <a:rPr lang="en-US" sz="1000" dirty="0"/>
              <a:t>Colorectal Cancer Screening</a:t>
            </a:r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FD0B95BB-0BA8-7C0A-6D24-36C3C5A2B5E4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2427447" y="2126710"/>
            <a:ext cx="1521763" cy="8618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E8FDDAE9-9578-120A-C30C-69A4BF375404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2427447" y="2125216"/>
            <a:ext cx="1521765" cy="149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TextBox 164">
            <a:extLst>
              <a:ext uri="{FF2B5EF4-FFF2-40B4-BE49-F238E27FC236}">
                <a16:creationId xmlns:a16="http://schemas.microsoft.com/office/drawing/2014/main" id="{4363B30E-2A39-36B6-8E8D-D3672B7D3E25}"/>
              </a:ext>
            </a:extLst>
          </p:cNvPr>
          <p:cNvSpPr txBox="1"/>
          <p:nvPr/>
        </p:nvSpPr>
        <p:spPr>
          <a:xfrm>
            <a:off x="3062513" y="2010190"/>
            <a:ext cx="459578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b="1" dirty="0"/>
              <a:t>entry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408DE87E-DE97-C26A-0F5B-EC9F3AB62F23}"/>
              </a:ext>
            </a:extLst>
          </p:cNvPr>
          <p:cNvCxnSpPr>
            <a:cxnSpLocks/>
            <a:stCxn id="90" idx="3"/>
            <a:endCxn id="85" idx="1"/>
          </p:cNvCxnSpPr>
          <p:nvPr/>
        </p:nvCxnSpPr>
        <p:spPr>
          <a:xfrm flipV="1">
            <a:off x="8723427" y="2115991"/>
            <a:ext cx="1445858" cy="135975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C6A06D09-4EBF-F68F-C158-6759FC92BBEF}"/>
              </a:ext>
            </a:extLst>
          </p:cNvPr>
          <p:cNvSpPr txBox="1"/>
          <p:nvPr/>
        </p:nvSpPr>
        <p:spPr>
          <a:xfrm>
            <a:off x="3068722" y="2427311"/>
            <a:ext cx="459578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b="1" dirty="0"/>
              <a:t>entry</a:t>
            </a:r>
          </a:p>
        </p:txBody>
      </p:sp>
      <p:sp>
        <p:nvSpPr>
          <p:cNvPr id="85" name="Flowchart: Process 84">
            <a:extLst>
              <a:ext uri="{FF2B5EF4-FFF2-40B4-BE49-F238E27FC236}">
                <a16:creationId xmlns:a16="http://schemas.microsoft.com/office/drawing/2014/main" id="{EB4B5463-8FA6-CDA0-A739-CAEFB2F54A70}"/>
              </a:ext>
            </a:extLst>
          </p:cNvPr>
          <p:cNvSpPr/>
          <p:nvPr/>
        </p:nvSpPr>
        <p:spPr>
          <a:xfrm>
            <a:off x="10169285" y="1826344"/>
            <a:ext cx="1864311" cy="579294"/>
          </a:xfrm>
          <a:prstGeom prst="flowChartProcess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Procedure</a:t>
            </a:r>
          </a:p>
          <a:p>
            <a:pPr algn="ctr"/>
            <a:r>
              <a:rPr lang="en-US" sz="1000" dirty="0"/>
              <a:t>Colonoscopy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841A4C1-DED2-8FF2-0414-782E12CEDB81}"/>
              </a:ext>
            </a:extLst>
          </p:cNvPr>
          <p:cNvSpPr txBox="1"/>
          <p:nvPr/>
        </p:nvSpPr>
        <p:spPr>
          <a:xfrm>
            <a:off x="9057024" y="3168833"/>
            <a:ext cx="1124767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rgbClr val="0070C0"/>
                </a:solidFill>
              </a:rPr>
              <a:t>evaluatedResource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BCB60AC-79F0-CEF0-A450-133D1A765A6B}"/>
              </a:ext>
            </a:extLst>
          </p:cNvPr>
          <p:cNvSpPr txBox="1"/>
          <p:nvPr/>
        </p:nvSpPr>
        <p:spPr>
          <a:xfrm>
            <a:off x="9019671" y="2515453"/>
            <a:ext cx="1124767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rgbClr val="0070C0"/>
                </a:solidFill>
              </a:rPr>
              <a:t>evaluatedResource</a:t>
            </a:r>
          </a:p>
        </p:txBody>
      </p:sp>
      <p:sp>
        <p:nvSpPr>
          <p:cNvPr id="109" name="Flowchart: Process 108">
            <a:extLst>
              <a:ext uri="{FF2B5EF4-FFF2-40B4-BE49-F238E27FC236}">
                <a16:creationId xmlns:a16="http://schemas.microsoft.com/office/drawing/2014/main" id="{3FBFD297-9606-2D25-6BA4-9CF2EF72D551}"/>
              </a:ext>
            </a:extLst>
          </p:cNvPr>
          <p:cNvSpPr/>
          <p:nvPr/>
        </p:nvSpPr>
        <p:spPr>
          <a:xfrm>
            <a:off x="3964192" y="4356428"/>
            <a:ext cx="1864311" cy="562122"/>
          </a:xfrm>
          <a:prstGeom prst="flowChartProcess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GIC Detected Issue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A71AA692-4984-217A-2B35-92BA8056F4F2}"/>
              </a:ext>
            </a:extLst>
          </p:cNvPr>
          <p:cNvCxnSpPr>
            <a:cxnSpLocks/>
            <a:endCxn id="90" idx="1"/>
          </p:cNvCxnSpPr>
          <p:nvPr/>
        </p:nvCxnSpPr>
        <p:spPr>
          <a:xfrm>
            <a:off x="5813523" y="2125216"/>
            <a:ext cx="1045593" cy="1350533"/>
          </a:xfrm>
          <a:prstGeom prst="straightConnector1">
            <a:avLst/>
          </a:prstGeom>
          <a:ln w="952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C27122A1-7723-71BB-3EE9-81BD503758D6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>
            <a:off x="2427447" y="2126710"/>
            <a:ext cx="1521762" cy="16717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93FDB6B-69B1-44BD-728D-DF680B22757C}"/>
              </a:ext>
            </a:extLst>
          </p:cNvPr>
          <p:cNvCxnSpPr>
            <a:cxnSpLocks/>
            <a:stCxn id="5" idx="3"/>
            <a:endCxn id="109" idx="1"/>
          </p:cNvCxnSpPr>
          <p:nvPr/>
        </p:nvCxnSpPr>
        <p:spPr>
          <a:xfrm>
            <a:off x="2427447" y="2126710"/>
            <a:ext cx="1536745" cy="25107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E8A87B7E-E451-19D8-C479-6D12AEFF86BB}"/>
              </a:ext>
            </a:extLst>
          </p:cNvPr>
          <p:cNvSpPr txBox="1"/>
          <p:nvPr/>
        </p:nvSpPr>
        <p:spPr>
          <a:xfrm>
            <a:off x="3054225" y="2769787"/>
            <a:ext cx="459578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b="1" dirty="0"/>
              <a:t>entry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46B6C959-DB0E-3405-7EC8-2E388D764CBD}"/>
              </a:ext>
            </a:extLst>
          </p:cNvPr>
          <p:cNvSpPr txBox="1"/>
          <p:nvPr/>
        </p:nvSpPr>
        <p:spPr>
          <a:xfrm>
            <a:off x="3299449" y="3681785"/>
            <a:ext cx="459578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b="1" dirty="0"/>
              <a:t>entry</a:t>
            </a: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9192B48F-64A2-6CED-B0CC-06DCD8467A9B}"/>
              </a:ext>
            </a:extLst>
          </p:cNvPr>
          <p:cNvCxnSpPr>
            <a:cxnSpLocks/>
            <a:stCxn id="5" idx="2"/>
            <a:endCxn id="217" idx="0"/>
          </p:cNvCxnSpPr>
          <p:nvPr/>
        </p:nvCxnSpPr>
        <p:spPr>
          <a:xfrm>
            <a:off x="1495292" y="2432425"/>
            <a:ext cx="632895" cy="19895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A48B7723-E241-E5A4-A65E-8BF83C1D9258}"/>
              </a:ext>
            </a:extLst>
          </p:cNvPr>
          <p:cNvCxnSpPr>
            <a:cxnSpLocks/>
            <a:stCxn id="5" idx="2"/>
            <a:endCxn id="216" idx="0"/>
          </p:cNvCxnSpPr>
          <p:nvPr/>
        </p:nvCxnSpPr>
        <p:spPr>
          <a:xfrm>
            <a:off x="1495292" y="2432425"/>
            <a:ext cx="5975" cy="11739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Flowchart: Process 133">
            <a:extLst>
              <a:ext uri="{FF2B5EF4-FFF2-40B4-BE49-F238E27FC236}">
                <a16:creationId xmlns:a16="http://schemas.microsoft.com/office/drawing/2014/main" id="{B285BB8B-D0EE-0FC7-8D38-5AE2849BD4A3}"/>
              </a:ext>
            </a:extLst>
          </p:cNvPr>
          <p:cNvSpPr/>
          <p:nvPr/>
        </p:nvSpPr>
        <p:spPr>
          <a:xfrm>
            <a:off x="6859116" y="4588897"/>
            <a:ext cx="1864311" cy="562122"/>
          </a:xfrm>
          <a:prstGeom prst="flowChartProcess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GIC Detected Issue</a:t>
            </a:r>
          </a:p>
        </p:txBody>
      </p: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C69064EB-6226-9CA1-BCA8-38EEB5DCE9E9}"/>
              </a:ext>
            </a:extLst>
          </p:cNvPr>
          <p:cNvCxnSpPr>
            <a:cxnSpLocks/>
            <a:endCxn id="134" idx="1"/>
          </p:cNvCxnSpPr>
          <p:nvPr/>
        </p:nvCxnSpPr>
        <p:spPr>
          <a:xfrm>
            <a:off x="5813523" y="2125216"/>
            <a:ext cx="1045593" cy="2744742"/>
          </a:xfrm>
          <a:prstGeom prst="straightConnector1">
            <a:avLst/>
          </a:prstGeom>
          <a:ln w="952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2F348932-B465-88B6-FDC1-E02054483C76}"/>
              </a:ext>
            </a:extLst>
          </p:cNvPr>
          <p:cNvSpPr txBox="1"/>
          <p:nvPr/>
        </p:nvSpPr>
        <p:spPr>
          <a:xfrm>
            <a:off x="6139654" y="2756779"/>
            <a:ext cx="900006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rgbClr val="0070C0"/>
                </a:solidFill>
              </a:rPr>
              <a:t>section.entry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3BE936EF-B293-993E-DFB1-13304ECFC054}"/>
              </a:ext>
            </a:extLst>
          </p:cNvPr>
          <p:cNvSpPr txBox="1"/>
          <p:nvPr/>
        </p:nvSpPr>
        <p:spPr>
          <a:xfrm>
            <a:off x="6136876" y="3986625"/>
            <a:ext cx="814938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rgbClr val="0070C0"/>
                </a:solidFill>
              </a:rPr>
              <a:t>section.focus</a:t>
            </a:r>
          </a:p>
        </p:txBody>
      </p:sp>
      <p:sp>
        <p:nvSpPr>
          <p:cNvPr id="180" name="Flowchart: Process 179">
            <a:extLst>
              <a:ext uri="{FF2B5EF4-FFF2-40B4-BE49-F238E27FC236}">
                <a16:creationId xmlns:a16="http://schemas.microsoft.com/office/drawing/2014/main" id="{916B94D6-857D-C423-8782-4577E2F8B689}"/>
              </a:ext>
            </a:extLst>
          </p:cNvPr>
          <p:cNvSpPr/>
          <p:nvPr/>
        </p:nvSpPr>
        <p:spPr>
          <a:xfrm>
            <a:off x="6859116" y="1848234"/>
            <a:ext cx="1864311" cy="562122"/>
          </a:xfrm>
          <a:prstGeom prst="flowChartProcess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Patient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3EC97E9D-26FE-A786-D1FB-B852CE5EFFC9}"/>
              </a:ext>
            </a:extLst>
          </p:cNvPr>
          <p:cNvCxnSpPr>
            <a:cxnSpLocks/>
            <a:endCxn id="180" idx="1"/>
          </p:cNvCxnSpPr>
          <p:nvPr/>
        </p:nvCxnSpPr>
        <p:spPr>
          <a:xfrm>
            <a:off x="5813523" y="2125216"/>
            <a:ext cx="1045593" cy="4079"/>
          </a:xfrm>
          <a:prstGeom prst="straightConnector1">
            <a:avLst/>
          </a:prstGeom>
          <a:ln w="952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TextBox 181">
            <a:extLst>
              <a:ext uri="{FF2B5EF4-FFF2-40B4-BE49-F238E27FC236}">
                <a16:creationId xmlns:a16="http://schemas.microsoft.com/office/drawing/2014/main" id="{E7E638E0-F5F4-226A-D48F-BC388C6C61EE}"/>
              </a:ext>
            </a:extLst>
          </p:cNvPr>
          <p:cNvSpPr txBox="1"/>
          <p:nvPr/>
        </p:nvSpPr>
        <p:spPr>
          <a:xfrm>
            <a:off x="6090625" y="2010190"/>
            <a:ext cx="633829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rgbClr val="0070C0"/>
                </a:solidFill>
              </a:rPr>
              <a:t>subject</a:t>
            </a:r>
          </a:p>
        </p:txBody>
      </p:sp>
      <p:sp>
        <p:nvSpPr>
          <p:cNvPr id="183" name="Flowchart: Process 182">
            <a:extLst>
              <a:ext uri="{FF2B5EF4-FFF2-40B4-BE49-F238E27FC236}">
                <a16:creationId xmlns:a16="http://schemas.microsoft.com/office/drawing/2014/main" id="{C7E7B304-6EC3-695A-6CE8-55882D29D690}"/>
              </a:ext>
            </a:extLst>
          </p:cNvPr>
          <p:cNvSpPr/>
          <p:nvPr/>
        </p:nvSpPr>
        <p:spPr>
          <a:xfrm>
            <a:off x="10169285" y="3797201"/>
            <a:ext cx="1864310" cy="555676"/>
          </a:xfrm>
          <a:prstGeom prst="flowChartProcess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Organization</a:t>
            </a:r>
            <a:endParaRPr lang="en-US" sz="1000" dirty="0"/>
          </a:p>
        </p:txBody>
      </p: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CDFE09B4-1B4F-1261-B898-6DBC5AA54D7E}"/>
              </a:ext>
            </a:extLst>
          </p:cNvPr>
          <p:cNvCxnSpPr>
            <a:cxnSpLocks/>
            <a:stCxn id="90" idx="3"/>
            <a:endCxn id="183" idx="1"/>
          </p:cNvCxnSpPr>
          <p:nvPr/>
        </p:nvCxnSpPr>
        <p:spPr>
          <a:xfrm>
            <a:off x="8723427" y="3475749"/>
            <a:ext cx="1445858" cy="59929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538BEEBE-E20D-0C6A-7F06-ECF5BDE2FC2D}"/>
              </a:ext>
            </a:extLst>
          </p:cNvPr>
          <p:cNvSpPr txBox="1"/>
          <p:nvPr/>
        </p:nvSpPr>
        <p:spPr>
          <a:xfrm>
            <a:off x="9123125" y="3682575"/>
            <a:ext cx="737102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rgbClr val="0070C0"/>
                </a:solidFill>
              </a:rPr>
              <a:t>reporter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DDA0B69F-B9EB-4269-C8DC-7B1A1B4E92A9}"/>
              </a:ext>
            </a:extLst>
          </p:cNvPr>
          <p:cNvSpPr txBox="1"/>
          <p:nvPr/>
        </p:nvSpPr>
        <p:spPr>
          <a:xfrm>
            <a:off x="1516554" y="3209857"/>
            <a:ext cx="459578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b="1" dirty="0"/>
              <a:t>entry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AA7B40CD-768F-518F-DB94-8914434AB873}"/>
              </a:ext>
            </a:extLst>
          </p:cNvPr>
          <p:cNvSpPr txBox="1"/>
          <p:nvPr/>
        </p:nvSpPr>
        <p:spPr>
          <a:xfrm>
            <a:off x="1204549" y="2969018"/>
            <a:ext cx="459578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b="1" dirty="0"/>
              <a:t>entry</a:t>
            </a:r>
          </a:p>
        </p:txBody>
      </p:sp>
      <p:sp>
        <p:nvSpPr>
          <p:cNvPr id="188" name="Flowchart: Process 187">
            <a:extLst>
              <a:ext uri="{FF2B5EF4-FFF2-40B4-BE49-F238E27FC236}">
                <a16:creationId xmlns:a16="http://schemas.microsoft.com/office/drawing/2014/main" id="{E4FB34CA-D210-C46A-F4A9-C86FA6099F0A}"/>
              </a:ext>
            </a:extLst>
          </p:cNvPr>
          <p:cNvSpPr/>
          <p:nvPr/>
        </p:nvSpPr>
        <p:spPr>
          <a:xfrm>
            <a:off x="10190760" y="4703000"/>
            <a:ext cx="1864310" cy="555676"/>
          </a:xfrm>
          <a:prstGeom prst="flowChartProcess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Guidance Response</a:t>
            </a:r>
            <a:endParaRPr lang="en-US" sz="1000" dirty="0"/>
          </a:p>
        </p:txBody>
      </p: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6067B6DF-7C1A-6E61-2841-52A30DD1CF34}"/>
              </a:ext>
            </a:extLst>
          </p:cNvPr>
          <p:cNvCxnSpPr>
            <a:cxnSpLocks/>
            <a:stCxn id="134" idx="3"/>
            <a:endCxn id="188" idx="1"/>
          </p:cNvCxnSpPr>
          <p:nvPr/>
        </p:nvCxnSpPr>
        <p:spPr>
          <a:xfrm>
            <a:off x="8723427" y="4869958"/>
            <a:ext cx="1467333" cy="11088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TextBox 189">
            <a:extLst>
              <a:ext uri="{FF2B5EF4-FFF2-40B4-BE49-F238E27FC236}">
                <a16:creationId xmlns:a16="http://schemas.microsoft.com/office/drawing/2014/main" id="{26F9CE3A-EE8C-68C2-127E-64EEB7E1161E}"/>
              </a:ext>
            </a:extLst>
          </p:cNvPr>
          <p:cNvSpPr txBox="1"/>
          <p:nvPr/>
        </p:nvSpPr>
        <p:spPr>
          <a:xfrm>
            <a:off x="8890114" y="4763611"/>
            <a:ext cx="1070395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rgbClr val="0070C0"/>
                </a:solidFill>
              </a:rPr>
              <a:t>evidence[1].detail</a:t>
            </a:r>
          </a:p>
        </p:txBody>
      </p: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9D77868B-2FDE-EF32-219F-047E2A3F973C}"/>
              </a:ext>
            </a:extLst>
          </p:cNvPr>
          <p:cNvCxnSpPr>
            <a:cxnSpLocks/>
            <a:stCxn id="5" idx="3"/>
            <a:endCxn id="16" idx="1"/>
          </p:cNvCxnSpPr>
          <p:nvPr/>
        </p:nvCxnSpPr>
        <p:spPr>
          <a:xfrm>
            <a:off x="2427447" y="2126710"/>
            <a:ext cx="1528276" cy="32603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id="{C8BAFFFD-4D52-6B31-2BC6-B7B1CFF0DFF1}"/>
              </a:ext>
            </a:extLst>
          </p:cNvPr>
          <p:cNvSpPr txBox="1"/>
          <p:nvPr/>
        </p:nvSpPr>
        <p:spPr>
          <a:xfrm>
            <a:off x="3082342" y="4044221"/>
            <a:ext cx="459578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b="1" dirty="0"/>
              <a:t>entry</a:t>
            </a: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049911D4-C0FA-BC8E-9E5F-01AFB4685F3E}"/>
              </a:ext>
            </a:extLst>
          </p:cNvPr>
          <p:cNvSpPr/>
          <p:nvPr/>
        </p:nvSpPr>
        <p:spPr>
          <a:xfrm>
            <a:off x="6011857" y="1518700"/>
            <a:ext cx="6091088" cy="423009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38E435ED-1E65-93D0-3F5D-054A66607F62}"/>
              </a:ext>
            </a:extLst>
          </p:cNvPr>
          <p:cNvSpPr txBox="1"/>
          <p:nvPr/>
        </p:nvSpPr>
        <p:spPr>
          <a:xfrm>
            <a:off x="7972666" y="1479843"/>
            <a:ext cx="19443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referenced resources</a:t>
            </a:r>
          </a:p>
        </p:txBody>
      </p:sp>
      <p:sp>
        <p:nvSpPr>
          <p:cNvPr id="204" name="Flowchart: Process 203">
            <a:extLst>
              <a:ext uri="{FF2B5EF4-FFF2-40B4-BE49-F238E27FC236}">
                <a16:creationId xmlns:a16="http://schemas.microsoft.com/office/drawing/2014/main" id="{18BA8CA6-851E-77D1-DB3C-3AFA4A59F1CC}"/>
              </a:ext>
            </a:extLst>
          </p:cNvPr>
          <p:cNvSpPr/>
          <p:nvPr/>
        </p:nvSpPr>
        <p:spPr>
          <a:xfrm>
            <a:off x="1875487" y="5106004"/>
            <a:ext cx="1864311" cy="562122"/>
          </a:xfrm>
          <a:prstGeom prst="flowChartProcess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Guidance Response</a:t>
            </a:r>
            <a:br>
              <a:rPr lang="en-US" sz="1600"/>
            </a:br>
            <a:r>
              <a:rPr lang="en-US" sz="1600"/>
              <a:t>(optional</a:t>
            </a:r>
            <a:r>
              <a:rPr lang="en-US" sz="1600" dirty="0"/>
              <a:t>)</a:t>
            </a:r>
            <a:endParaRPr lang="en-US" sz="1000" dirty="0"/>
          </a:p>
        </p:txBody>
      </p: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24C82A02-04BB-5D53-D412-2B464BBD1951}"/>
              </a:ext>
            </a:extLst>
          </p:cNvPr>
          <p:cNvCxnSpPr>
            <a:cxnSpLocks/>
            <a:stCxn id="5" idx="2"/>
            <a:endCxn id="204" idx="0"/>
          </p:cNvCxnSpPr>
          <p:nvPr/>
        </p:nvCxnSpPr>
        <p:spPr>
          <a:xfrm>
            <a:off x="1495292" y="2432425"/>
            <a:ext cx="1312351" cy="26735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Flowchart: Process 215">
            <a:extLst>
              <a:ext uri="{FF2B5EF4-FFF2-40B4-BE49-F238E27FC236}">
                <a16:creationId xmlns:a16="http://schemas.microsoft.com/office/drawing/2014/main" id="{130A3C16-2D3E-3435-DF4B-16C2E0FF3157}"/>
              </a:ext>
            </a:extLst>
          </p:cNvPr>
          <p:cNvSpPr/>
          <p:nvPr/>
        </p:nvSpPr>
        <p:spPr>
          <a:xfrm>
            <a:off x="569111" y="3606334"/>
            <a:ext cx="1864311" cy="618858"/>
          </a:xfrm>
          <a:prstGeom prst="flowChartProcess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Lab Observation</a:t>
            </a:r>
          </a:p>
          <a:p>
            <a:pPr algn="ctr"/>
            <a:r>
              <a:rPr lang="en-US" sz="1000" dirty="0"/>
              <a:t>FOBT</a:t>
            </a:r>
          </a:p>
        </p:txBody>
      </p:sp>
      <p:sp>
        <p:nvSpPr>
          <p:cNvPr id="217" name="Flowchart: Process 216">
            <a:extLst>
              <a:ext uri="{FF2B5EF4-FFF2-40B4-BE49-F238E27FC236}">
                <a16:creationId xmlns:a16="http://schemas.microsoft.com/office/drawing/2014/main" id="{3E59222A-630A-6477-4D3C-09DEADF1BC16}"/>
              </a:ext>
            </a:extLst>
          </p:cNvPr>
          <p:cNvSpPr/>
          <p:nvPr/>
        </p:nvSpPr>
        <p:spPr>
          <a:xfrm>
            <a:off x="1196031" y="4421939"/>
            <a:ext cx="1864311" cy="562122"/>
          </a:xfrm>
          <a:prstGeom prst="flowChartProcess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Procedure</a:t>
            </a:r>
          </a:p>
          <a:p>
            <a:pPr algn="ctr"/>
            <a:r>
              <a:rPr lang="en-US" sz="1000" dirty="0"/>
              <a:t>Colonoscopy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3617E568-82BF-2B81-5D7E-EDE8211B2A34}"/>
              </a:ext>
            </a:extLst>
          </p:cNvPr>
          <p:cNvSpPr txBox="1"/>
          <p:nvPr/>
        </p:nvSpPr>
        <p:spPr>
          <a:xfrm>
            <a:off x="1926289" y="3320966"/>
            <a:ext cx="445317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b="1" dirty="0"/>
              <a:t>entry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67A6B95-682D-E0E7-B7E3-BC0C03B64EDA}"/>
              </a:ext>
            </a:extLst>
          </p:cNvPr>
          <p:cNvSpPr/>
          <p:nvPr/>
        </p:nvSpPr>
        <p:spPr>
          <a:xfrm>
            <a:off x="367513" y="1518700"/>
            <a:ext cx="5550229" cy="4230094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6862FD6-FA1F-146C-D846-8A721EBCCCBD}"/>
              </a:ext>
            </a:extLst>
          </p:cNvPr>
          <p:cNvSpPr txBox="1"/>
          <p:nvPr/>
        </p:nvSpPr>
        <p:spPr>
          <a:xfrm>
            <a:off x="2018156" y="1462357"/>
            <a:ext cx="20887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2060"/>
                </a:solidFill>
              </a:rPr>
              <a:t>GIC Bundle and entries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4CBD524-3F01-0C12-59AE-70D4841B748F}"/>
              </a:ext>
            </a:extLst>
          </p:cNvPr>
          <p:cNvCxnSpPr>
            <a:cxnSpLocks/>
            <a:stCxn id="134" idx="0"/>
            <a:endCxn id="90" idx="2"/>
          </p:cNvCxnSpPr>
          <p:nvPr/>
        </p:nvCxnSpPr>
        <p:spPr>
          <a:xfrm flipV="1">
            <a:off x="7791272" y="3756810"/>
            <a:ext cx="0" cy="832087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3579072-076C-AE81-DA9A-93D66B166817}"/>
              </a:ext>
            </a:extLst>
          </p:cNvPr>
          <p:cNvSpPr txBox="1"/>
          <p:nvPr/>
        </p:nvSpPr>
        <p:spPr>
          <a:xfrm>
            <a:off x="7234391" y="4153883"/>
            <a:ext cx="1070395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rgbClr val="0070C0"/>
                </a:solidFill>
              </a:rPr>
              <a:t>evidence[0].detail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CAE2FCA-43DC-573F-5F0F-7CE920E91F68}"/>
              </a:ext>
            </a:extLst>
          </p:cNvPr>
          <p:cNvCxnSpPr>
            <a:cxnSpLocks/>
            <a:stCxn id="90" idx="0"/>
            <a:endCxn id="180" idx="2"/>
          </p:cNvCxnSpPr>
          <p:nvPr/>
        </p:nvCxnSpPr>
        <p:spPr>
          <a:xfrm flipV="1">
            <a:off x="7791272" y="2410356"/>
            <a:ext cx="0" cy="784332"/>
          </a:xfrm>
          <a:prstGeom prst="straightConnector1">
            <a:avLst/>
          </a:prstGeom>
          <a:ln w="952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B4284E4-179D-F9C7-5869-679221D11517}"/>
              </a:ext>
            </a:extLst>
          </p:cNvPr>
          <p:cNvSpPr txBox="1"/>
          <p:nvPr/>
        </p:nvSpPr>
        <p:spPr>
          <a:xfrm>
            <a:off x="7533467" y="2731777"/>
            <a:ext cx="633829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rgbClr val="0070C0"/>
                </a:solidFill>
              </a:rPr>
              <a:t>subject</a:t>
            </a:r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A92DF0BA-0AEF-E27B-45BA-A77B08FA68BF}"/>
              </a:ext>
            </a:extLst>
          </p:cNvPr>
          <p:cNvSpPr/>
          <p:nvPr/>
        </p:nvSpPr>
        <p:spPr>
          <a:xfrm>
            <a:off x="3949209" y="1818397"/>
            <a:ext cx="1864311" cy="613637"/>
          </a:xfrm>
          <a:prstGeom prst="flowChartProcess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GIC Composition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85718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C9293-5253-4045-B6FF-0BF8D01B1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56557" cy="1325563"/>
          </a:xfrm>
        </p:spPr>
        <p:txBody>
          <a:bodyPr/>
          <a:lstStyle/>
          <a:p>
            <a:r>
              <a:rPr lang="en-US" sz="3200" dirty="0"/>
              <a:t>DEQM Gaps In Care Bundle (collection)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F4AA5-BD88-4606-ACB3-39118129A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406" y="1441841"/>
            <a:ext cx="11185124" cy="514246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B7A7E221-C938-4426-AA48-B09EFF0C8A7E}"/>
              </a:ext>
            </a:extLst>
          </p:cNvPr>
          <p:cNvSpPr/>
          <p:nvPr/>
        </p:nvSpPr>
        <p:spPr>
          <a:xfrm>
            <a:off x="563136" y="1820994"/>
            <a:ext cx="1864311" cy="611431"/>
          </a:xfrm>
          <a:prstGeom prst="flowChartProcess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GIC Bundle</a:t>
            </a: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C91FCB4F-F2B6-436E-9248-D1FB7A9503A1}"/>
              </a:ext>
            </a:extLst>
          </p:cNvPr>
          <p:cNvSpPr/>
          <p:nvPr/>
        </p:nvSpPr>
        <p:spPr>
          <a:xfrm>
            <a:off x="3949210" y="2681763"/>
            <a:ext cx="1864311" cy="613637"/>
          </a:xfrm>
          <a:prstGeom prst="flowChartProcess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GIC Measure Report  </a:t>
            </a:r>
            <a:r>
              <a:rPr lang="en-US" sz="1000" dirty="0"/>
              <a:t>Colorectal Cancer Screening</a:t>
            </a:r>
          </a:p>
        </p:txBody>
      </p:sp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7C494011-9B4B-4108-B2F1-32F5A7D22803}"/>
              </a:ext>
            </a:extLst>
          </p:cNvPr>
          <p:cNvSpPr/>
          <p:nvPr/>
        </p:nvSpPr>
        <p:spPr>
          <a:xfrm>
            <a:off x="3949209" y="3520726"/>
            <a:ext cx="1864311" cy="555563"/>
          </a:xfrm>
          <a:prstGeom prst="flowChartProcess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Patient</a:t>
            </a:r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AAB520D8-1327-4035-B17F-8E435832F332}"/>
              </a:ext>
            </a:extLst>
          </p:cNvPr>
          <p:cNvSpPr/>
          <p:nvPr/>
        </p:nvSpPr>
        <p:spPr>
          <a:xfrm>
            <a:off x="10169285" y="2782563"/>
            <a:ext cx="1864310" cy="688895"/>
          </a:xfrm>
          <a:prstGeom prst="flowChartProcess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Lab Observation</a:t>
            </a:r>
          </a:p>
          <a:p>
            <a:pPr algn="ctr"/>
            <a:r>
              <a:rPr lang="en-US" sz="1000" dirty="0"/>
              <a:t>FOBT</a:t>
            </a:r>
          </a:p>
        </p:txBody>
      </p:sp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820EB801-38A6-47AA-A42B-B341458DA83D}"/>
              </a:ext>
            </a:extLst>
          </p:cNvPr>
          <p:cNvSpPr/>
          <p:nvPr/>
        </p:nvSpPr>
        <p:spPr>
          <a:xfrm>
            <a:off x="3955723" y="5106004"/>
            <a:ext cx="1864311" cy="562122"/>
          </a:xfrm>
          <a:prstGeom prst="flowChartProcess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Organization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CF496CA-7DA1-4920-B8A9-499D311987BA}"/>
              </a:ext>
            </a:extLst>
          </p:cNvPr>
          <p:cNvCxnSpPr>
            <a:cxnSpLocks/>
            <a:stCxn id="90" idx="3"/>
            <a:endCxn id="15" idx="1"/>
          </p:cNvCxnSpPr>
          <p:nvPr/>
        </p:nvCxnSpPr>
        <p:spPr>
          <a:xfrm flipV="1">
            <a:off x="8723427" y="3127011"/>
            <a:ext cx="1445858" cy="34873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Flowchart: Process 89">
            <a:extLst>
              <a:ext uri="{FF2B5EF4-FFF2-40B4-BE49-F238E27FC236}">
                <a16:creationId xmlns:a16="http://schemas.microsoft.com/office/drawing/2014/main" id="{7A044D70-BFF3-405C-AFEC-F728F8A25F68}"/>
              </a:ext>
            </a:extLst>
          </p:cNvPr>
          <p:cNvSpPr/>
          <p:nvPr/>
        </p:nvSpPr>
        <p:spPr>
          <a:xfrm>
            <a:off x="6859116" y="3194688"/>
            <a:ext cx="1864311" cy="562122"/>
          </a:xfrm>
          <a:prstGeom prst="flowChartProcess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GIC Measure Report</a:t>
            </a:r>
          </a:p>
          <a:p>
            <a:pPr algn="ctr"/>
            <a:r>
              <a:rPr lang="en-US" sz="1000" dirty="0"/>
              <a:t>Colorectal Cancer Screening</a:t>
            </a:r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CA185091-BF8F-45FC-9DB1-E755F7475568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2427447" y="2126710"/>
            <a:ext cx="1521763" cy="8618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B0A502EB-4FA3-419A-B0EE-C00113470861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2427447" y="2125216"/>
            <a:ext cx="1521765" cy="149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TextBox 164">
            <a:extLst>
              <a:ext uri="{FF2B5EF4-FFF2-40B4-BE49-F238E27FC236}">
                <a16:creationId xmlns:a16="http://schemas.microsoft.com/office/drawing/2014/main" id="{8F126E68-CFBC-4650-89F4-8608C59D3052}"/>
              </a:ext>
            </a:extLst>
          </p:cNvPr>
          <p:cNvSpPr txBox="1"/>
          <p:nvPr/>
        </p:nvSpPr>
        <p:spPr>
          <a:xfrm>
            <a:off x="3062513" y="2010190"/>
            <a:ext cx="459578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b="1" dirty="0"/>
              <a:t>entry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2E6884AB-C746-476C-9C61-B73BD4DBC3EF}"/>
              </a:ext>
            </a:extLst>
          </p:cNvPr>
          <p:cNvCxnSpPr>
            <a:cxnSpLocks/>
            <a:stCxn id="90" idx="3"/>
            <a:endCxn id="85" idx="1"/>
          </p:cNvCxnSpPr>
          <p:nvPr/>
        </p:nvCxnSpPr>
        <p:spPr>
          <a:xfrm flipV="1">
            <a:off x="8723427" y="2115991"/>
            <a:ext cx="1445858" cy="135975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EC33D804-3ACB-4A94-BAA0-8AC1C285E5BC}"/>
              </a:ext>
            </a:extLst>
          </p:cNvPr>
          <p:cNvSpPr txBox="1"/>
          <p:nvPr/>
        </p:nvSpPr>
        <p:spPr>
          <a:xfrm>
            <a:off x="3068722" y="2427311"/>
            <a:ext cx="459578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b="1" dirty="0"/>
              <a:t>entry</a:t>
            </a:r>
          </a:p>
        </p:txBody>
      </p:sp>
      <p:sp>
        <p:nvSpPr>
          <p:cNvPr id="85" name="Flowchart: Process 84">
            <a:extLst>
              <a:ext uri="{FF2B5EF4-FFF2-40B4-BE49-F238E27FC236}">
                <a16:creationId xmlns:a16="http://schemas.microsoft.com/office/drawing/2014/main" id="{459A40C6-A2DD-4FF8-A8AA-DA7682C8A67F}"/>
              </a:ext>
            </a:extLst>
          </p:cNvPr>
          <p:cNvSpPr/>
          <p:nvPr/>
        </p:nvSpPr>
        <p:spPr>
          <a:xfrm>
            <a:off x="10169285" y="1826344"/>
            <a:ext cx="1864311" cy="579294"/>
          </a:xfrm>
          <a:prstGeom prst="flowChartProcess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Procedure</a:t>
            </a:r>
          </a:p>
          <a:p>
            <a:pPr algn="ctr"/>
            <a:r>
              <a:rPr lang="en-US" sz="1000" dirty="0"/>
              <a:t>Colonoscopy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56D41B1-7258-4F0F-BD63-042E925EE294}"/>
              </a:ext>
            </a:extLst>
          </p:cNvPr>
          <p:cNvSpPr txBox="1"/>
          <p:nvPr/>
        </p:nvSpPr>
        <p:spPr>
          <a:xfrm>
            <a:off x="9057024" y="3168833"/>
            <a:ext cx="1124767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rgbClr val="0070C0"/>
                </a:solidFill>
              </a:rPr>
              <a:t>evaluatedResource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F96B318-5A4B-490A-BA0D-87129D69D185}"/>
              </a:ext>
            </a:extLst>
          </p:cNvPr>
          <p:cNvSpPr txBox="1"/>
          <p:nvPr/>
        </p:nvSpPr>
        <p:spPr>
          <a:xfrm>
            <a:off x="9019671" y="2515453"/>
            <a:ext cx="1124767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rgbClr val="0070C0"/>
                </a:solidFill>
              </a:rPr>
              <a:t>evaluatedResource</a:t>
            </a:r>
          </a:p>
        </p:txBody>
      </p:sp>
      <p:sp>
        <p:nvSpPr>
          <p:cNvPr id="109" name="Flowchart: Process 108">
            <a:extLst>
              <a:ext uri="{FF2B5EF4-FFF2-40B4-BE49-F238E27FC236}">
                <a16:creationId xmlns:a16="http://schemas.microsoft.com/office/drawing/2014/main" id="{66370999-9EAF-4768-A4BF-B743314184F8}"/>
              </a:ext>
            </a:extLst>
          </p:cNvPr>
          <p:cNvSpPr/>
          <p:nvPr/>
        </p:nvSpPr>
        <p:spPr>
          <a:xfrm>
            <a:off x="3964192" y="4356428"/>
            <a:ext cx="1864311" cy="562122"/>
          </a:xfrm>
          <a:prstGeom prst="flowChartProcess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GIC Detected Issue</a:t>
            </a:r>
          </a:p>
          <a:p>
            <a:pPr algn="ctr"/>
            <a:r>
              <a:rPr lang="en-US" sz="1600" dirty="0"/>
              <a:t>(optional)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D132ADA7-1AEE-4182-88B6-4898C928D30B}"/>
              </a:ext>
            </a:extLst>
          </p:cNvPr>
          <p:cNvCxnSpPr>
            <a:cxnSpLocks/>
            <a:endCxn id="90" idx="1"/>
          </p:cNvCxnSpPr>
          <p:nvPr/>
        </p:nvCxnSpPr>
        <p:spPr>
          <a:xfrm>
            <a:off x="5813523" y="2125216"/>
            <a:ext cx="1045593" cy="1350533"/>
          </a:xfrm>
          <a:prstGeom prst="straightConnector1">
            <a:avLst/>
          </a:prstGeom>
          <a:ln w="952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680E0FFF-2155-45C0-BD84-1E30909C2176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>
            <a:off x="2427447" y="2126710"/>
            <a:ext cx="1521762" cy="16717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176230D8-FAA2-4C41-9819-AEEAAC683528}"/>
              </a:ext>
            </a:extLst>
          </p:cNvPr>
          <p:cNvCxnSpPr>
            <a:cxnSpLocks/>
            <a:stCxn id="5" idx="3"/>
            <a:endCxn id="109" idx="1"/>
          </p:cNvCxnSpPr>
          <p:nvPr/>
        </p:nvCxnSpPr>
        <p:spPr>
          <a:xfrm>
            <a:off x="2427447" y="2126710"/>
            <a:ext cx="1536745" cy="25107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6BF7FE0F-DC11-4650-A139-C73CA2F5B295}"/>
              </a:ext>
            </a:extLst>
          </p:cNvPr>
          <p:cNvSpPr txBox="1"/>
          <p:nvPr/>
        </p:nvSpPr>
        <p:spPr>
          <a:xfrm>
            <a:off x="3054225" y="2769787"/>
            <a:ext cx="459578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b="1" dirty="0"/>
              <a:t>entry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589B71B-497C-4B6A-B133-8D7EB092F1E9}"/>
              </a:ext>
            </a:extLst>
          </p:cNvPr>
          <p:cNvSpPr txBox="1"/>
          <p:nvPr/>
        </p:nvSpPr>
        <p:spPr>
          <a:xfrm>
            <a:off x="3299449" y="3681785"/>
            <a:ext cx="459578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b="1" dirty="0"/>
              <a:t>entry</a:t>
            </a: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6023FF68-6223-4988-8E15-2A475B7F6195}"/>
              </a:ext>
            </a:extLst>
          </p:cNvPr>
          <p:cNvCxnSpPr>
            <a:cxnSpLocks/>
            <a:stCxn id="5" idx="2"/>
            <a:endCxn id="217" idx="0"/>
          </p:cNvCxnSpPr>
          <p:nvPr/>
        </p:nvCxnSpPr>
        <p:spPr>
          <a:xfrm>
            <a:off x="1495292" y="2432425"/>
            <a:ext cx="632895" cy="19895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DF4B3521-2AD4-4975-AE71-FC0D0133E2AC}"/>
              </a:ext>
            </a:extLst>
          </p:cNvPr>
          <p:cNvCxnSpPr>
            <a:cxnSpLocks/>
            <a:stCxn id="5" idx="2"/>
            <a:endCxn id="216" idx="0"/>
          </p:cNvCxnSpPr>
          <p:nvPr/>
        </p:nvCxnSpPr>
        <p:spPr>
          <a:xfrm>
            <a:off x="1495292" y="2432425"/>
            <a:ext cx="5975" cy="11739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Flowchart: Process 133">
            <a:extLst>
              <a:ext uri="{FF2B5EF4-FFF2-40B4-BE49-F238E27FC236}">
                <a16:creationId xmlns:a16="http://schemas.microsoft.com/office/drawing/2014/main" id="{AB93EFC4-AD7F-4689-8E15-D13CBD3E9BE7}"/>
              </a:ext>
            </a:extLst>
          </p:cNvPr>
          <p:cNvSpPr/>
          <p:nvPr/>
        </p:nvSpPr>
        <p:spPr>
          <a:xfrm>
            <a:off x="6859116" y="4588897"/>
            <a:ext cx="1864311" cy="562122"/>
          </a:xfrm>
          <a:prstGeom prst="flowChartProcess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GIC Detected Issue</a:t>
            </a:r>
          </a:p>
        </p:txBody>
      </p: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90D686F3-6539-405B-BAAF-D5A603068524}"/>
              </a:ext>
            </a:extLst>
          </p:cNvPr>
          <p:cNvCxnSpPr>
            <a:cxnSpLocks/>
            <a:endCxn id="134" idx="1"/>
          </p:cNvCxnSpPr>
          <p:nvPr/>
        </p:nvCxnSpPr>
        <p:spPr>
          <a:xfrm>
            <a:off x="5813523" y="2125216"/>
            <a:ext cx="1045593" cy="2744742"/>
          </a:xfrm>
          <a:prstGeom prst="straightConnector1">
            <a:avLst/>
          </a:prstGeom>
          <a:ln w="952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4385A6E7-8368-40E5-97F6-C06276CE1254}"/>
              </a:ext>
            </a:extLst>
          </p:cNvPr>
          <p:cNvSpPr txBox="1"/>
          <p:nvPr/>
        </p:nvSpPr>
        <p:spPr>
          <a:xfrm>
            <a:off x="6139654" y="2756779"/>
            <a:ext cx="900006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rgbClr val="0070C0"/>
                </a:solidFill>
              </a:rPr>
              <a:t>section.entry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DC2C6B30-F47E-4161-A251-7799E31B4EE0}"/>
              </a:ext>
            </a:extLst>
          </p:cNvPr>
          <p:cNvSpPr txBox="1"/>
          <p:nvPr/>
        </p:nvSpPr>
        <p:spPr>
          <a:xfrm>
            <a:off x="6136876" y="3986625"/>
            <a:ext cx="814938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rgbClr val="0070C0"/>
                </a:solidFill>
              </a:rPr>
              <a:t>section.focus</a:t>
            </a:r>
          </a:p>
        </p:txBody>
      </p:sp>
      <p:sp>
        <p:nvSpPr>
          <p:cNvPr id="180" name="Flowchart: Process 179">
            <a:extLst>
              <a:ext uri="{FF2B5EF4-FFF2-40B4-BE49-F238E27FC236}">
                <a16:creationId xmlns:a16="http://schemas.microsoft.com/office/drawing/2014/main" id="{6D38B2BC-FB05-4D16-9C6C-C5C12FAF8574}"/>
              </a:ext>
            </a:extLst>
          </p:cNvPr>
          <p:cNvSpPr/>
          <p:nvPr/>
        </p:nvSpPr>
        <p:spPr>
          <a:xfrm>
            <a:off x="6859116" y="1848234"/>
            <a:ext cx="1864311" cy="562122"/>
          </a:xfrm>
          <a:prstGeom prst="flowChartProcess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Patient</a:t>
            </a:r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7CC7B4FF-EF57-467E-999A-78BDDB6C9EED}"/>
              </a:ext>
            </a:extLst>
          </p:cNvPr>
          <p:cNvCxnSpPr>
            <a:cxnSpLocks/>
            <a:endCxn id="180" idx="1"/>
          </p:cNvCxnSpPr>
          <p:nvPr/>
        </p:nvCxnSpPr>
        <p:spPr>
          <a:xfrm>
            <a:off x="5813523" y="2125216"/>
            <a:ext cx="1045593" cy="4079"/>
          </a:xfrm>
          <a:prstGeom prst="straightConnector1">
            <a:avLst/>
          </a:prstGeom>
          <a:ln w="952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TextBox 181">
            <a:extLst>
              <a:ext uri="{FF2B5EF4-FFF2-40B4-BE49-F238E27FC236}">
                <a16:creationId xmlns:a16="http://schemas.microsoft.com/office/drawing/2014/main" id="{8B791539-1D4C-45FA-8E4A-D6DB6040AEF7}"/>
              </a:ext>
            </a:extLst>
          </p:cNvPr>
          <p:cNvSpPr txBox="1"/>
          <p:nvPr/>
        </p:nvSpPr>
        <p:spPr>
          <a:xfrm>
            <a:off x="6090625" y="2010190"/>
            <a:ext cx="633829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rgbClr val="0070C0"/>
                </a:solidFill>
              </a:rPr>
              <a:t>subject</a:t>
            </a:r>
          </a:p>
        </p:txBody>
      </p:sp>
      <p:sp>
        <p:nvSpPr>
          <p:cNvPr id="183" name="Flowchart: Process 182">
            <a:extLst>
              <a:ext uri="{FF2B5EF4-FFF2-40B4-BE49-F238E27FC236}">
                <a16:creationId xmlns:a16="http://schemas.microsoft.com/office/drawing/2014/main" id="{2853D2EF-8C54-4A72-864B-6FF6283D937D}"/>
              </a:ext>
            </a:extLst>
          </p:cNvPr>
          <p:cNvSpPr/>
          <p:nvPr/>
        </p:nvSpPr>
        <p:spPr>
          <a:xfrm>
            <a:off x="10169285" y="3797201"/>
            <a:ext cx="1864310" cy="555676"/>
          </a:xfrm>
          <a:prstGeom prst="flowChartProcess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Organization</a:t>
            </a:r>
            <a:endParaRPr lang="en-US" sz="1000" dirty="0"/>
          </a:p>
        </p:txBody>
      </p: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8BC298C4-779B-414A-B83A-15F432433507}"/>
              </a:ext>
            </a:extLst>
          </p:cNvPr>
          <p:cNvCxnSpPr>
            <a:cxnSpLocks/>
            <a:stCxn id="90" idx="3"/>
            <a:endCxn id="183" idx="1"/>
          </p:cNvCxnSpPr>
          <p:nvPr/>
        </p:nvCxnSpPr>
        <p:spPr>
          <a:xfrm>
            <a:off x="8723427" y="3475749"/>
            <a:ext cx="1445858" cy="59929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9BD02CF3-118B-41D2-BE0E-A1F885F30F86}"/>
              </a:ext>
            </a:extLst>
          </p:cNvPr>
          <p:cNvSpPr txBox="1"/>
          <p:nvPr/>
        </p:nvSpPr>
        <p:spPr>
          <a:xfrm>
            <a:off x="9123125" y="3682575"/>
            <a:ext cx="737102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rgbClr val="0070C0"/>
                </a:solidFill>
              </a:rPr>
              <a:t>reporter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8603A9BC-6159-43CB-81EC-3FBEFABD8E5B}"/>
              </a:ext>
            </a:extLst>
          </p:cNvPr>
          <p:cNvSpPr txBox="1"/>
          <p:nvPr/>
        </p:nvSpPr>
        <p:spPr>
          <a:xfrm>
            <a:off x="1516554" y="3209857"/>
            <a:ext cx="459578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b="1" dirty="0"/>
              <a:t>entry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86FF4F10-16CA-4FC2-AA3E-151F1DD0027B}"/>
              </a:ext>
            </a:extLst>
          </p:cNvPr>
          <p:cNvSpPr txBox="1"/>
          <p:nvPr/>
        </p:nvSpPr>
        <p:spPr>
          <a:xfrm>
            <a:off x="1204549" y="2969018"/>
            <a:ext cx="459578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b="1" dirty="0"/>
              <a:t>entry</a:t>
            </a:r>
          </a:p>
        </p:txBody>
      </p:sp>
      <p:sp>
        <p:nvSpPr>
          <p:cNvPr id="188" name="Flowchart: Process 187">
            <a:extLst>
              <a:ext uri="{FF2B5EF4-FFF2-40B4-BE49-F238E27FC236}">
                <a16:creationId xmlns:a16="http://schemas.microsoft.com/office/drawing/2014/main" id="{49C6274A-C911-43A8-97FA-957680B10B45}"/>
              </a:ext>
            </a:extLst>
          </p:cNvPr>
          <p:cNvSpPr/>
          <p:nvPr/>
        </p:nvSpPr>
        <p:spPr>
          <a:xfrm>
            <a:off x="10190760" y="4703000"/>
            <a:ext cx="1864310" cy="555676"/>
          </a:xfrm>
          <a:prstGeom prst="flowChartProcess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Guidance Response</a:t>
            </a:r>
            <a:endParaRPr lang="en-US" sz="1000" dirty="0"/>
          </a:p>
        </p:txBody>
      </p: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F136370B-4A97-4D31-AAB8-7E59EE928ED6}"/>
              </a:ext>
            </a:extLst>
          </p:cNvPr>
          <p:cNvCxnSpPr>
            <a:cxnSpLocks/>
            <a:stCxn id="134" idx="3"/>
            <a:endCxn id="188" idx="1"/>
          </p:cNvCxnSpPr>
          <p:nvPr/>
        </p:nvCxnSpPr>
        <p:spPr>
          <a:xfrm>
            <a:off x="8723427" y="4869958"/>
            <a:ext cx="1467333" cy="11088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TextBox 189">
            <a:extLst>
              <a:ext uri="{FF2B5EF4-FFF2-40B4-BE49-F238E27FC236}">
                <a16:creationId xmlns:a16="http://schemas.microsoft.com/office/drawing/2014/main" id="{48D956A0-4AE2-4049-8667-1421E2E7C549}"/>
              </a:ext>
            </a:extLst>
          </p:cNvPr>
          <p:cNvSpPr txBox="1"/>
          <p:nvPr/>
        </p:nvSpPr>
        <p:spPr>
          <a:xfrm>
            <a:off x="8890114" y="4763611"/>
            <a:ext cx="1070395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rgbClr val="0070C0"/>
                </a:solidFill>
              </a:rPr>
              <a:t>evidence[1].detail</a:t>
            </a:r>
          </a:p>
        </p:txBody>
      </p: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58BDE12F-0BF3-44BA-863C-8B30C45CCA61}"/>
              </a:ext>
            </a:extLst>
          </p:cNvPr>
          <p:cNvCxnSpPr>
            <a:cxnSpLocks/>
            <a:stCxn id="5" idx="3"/>
            <a:endCxn id="16" idx="1"/>
          </p:cNvCxnSpPr>
          <p:nvPr/>
        </p:nvCxnSpPr>
        <p:spPr>
          <a:xfrm>
            <a:off x="2427447" y="2126710"/>
            <a:ext cx="1528276" cy="32603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id="{8D510BC8-AC80-4EE3-BBF3-C85306968137}"/>
              </a:ext>
            </a:extLst>
          </p:cNvPr>
          <p:cNvSpPr txBox="1"/>
          <p:nvPr/>
        </p:nvSpPr>
        <p:spPr>
          <a:xfrm>
            <a:off x="3082342" y="4044221"/>
            <a:ext cx="459578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b="1" dirty="0"/>
              <a:t>entry</a:t>
            </a: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8CC1E8F0-D6E6-459F-AE42-7CE04BCBDCB1}"/>
              </a:ext>
            </a:extLst>
          </p:cNvPr>
          <p:cNvSpPr/>
          <p:nvPr/>
        </p:nvSpPr>
        <p:spPr>
          <a:xfrm>
            <a:off x="6011857" y="1518700"/>
            <a:ext cx="6091088" cy="423009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C7FA8CED-29D5-4F10-A16E-5BC46614DAC0}"/>
              </a:ext>
            </a:extLst>
          </p:cNvPr>
          <p:cNvSpPr txBox="1"/>
          <p:nvPr/>
        </p:nvSpPr>
        <p:spPr>
          <a:xfrm>
            <a:off x="7972666" y="1479843"/>
            <a:ext cx="19443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referenced resources</a:t>
            </a:r>
          </a:p>
        </p:txBody>
      </p:sp>
      <p:sp>
        <p:nvSpPr>
          <p:cNvPr id="204" name="Flowchart: Process 203">
            <a:extLst>
              <a:ext uri="{FF2B5EF4-FFF2-40B4-BE49-F238E27FC236}">
                <a16:creationId xmlns:a16="http://schemas.microsoft.com/office/drawing/2014/main" id="{76BD1566-C29F-40E8-B8CB-28713C0DF3B9}"/>
              </a:ext>
            </a:extLst>
          </p:cNvPr>
          <p:cNvSpPr/>
          <p:nvPr/>
        </p:nvSpPr>
        <p:spPr>
          <a:xfrm>
            <a:off x="1875487" y="5106004"/>
            <a:ext cx="1864311" cy="562122"/>
          </a:xfrm>
          <a:prstGeom prst="flowChartProcess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Guidance Response</a:t>
            </a:r>
          </a:p>
          <a:p>
            <a:pPr algn="ctr"/>
            <a:r>
              <a:rPr lang="en-US" sz="1600" dirty="0"/>
              <a:t>(optional)</a:t>
            </a:r>
            <a:endParaRPr lang="en-US" sz="1000" dirty="0"/>
          </a:p>
        </p:txBody>
      </p: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22321B26-418D-41D8-946E-2F335E536499}"/>
              </a:ext>
            </a:extLst>
          </p:cNvPr>
          <p:cNvCxnSpPr>
            <a:cxnSpLocks/>
            <a:stCxn id="5" idx="2"/>
            <a:endCxn id="204" idx="0"/>
          </p:cNvCxnSpPr>
          <p:nvPr/>
        </p:nvCxnSpPr>
        <p:spPr>
          <a:xfrm>
            <a:off x="1495292" y="2432425"/>
            <a:ext cx="1312351" cy="26735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Flowchart: Process 215">
            <a:extLst>
              <a:ext uri="{FF2B5EF4-FFF2-40B4-BE49-F238E27FC236}">
                <a16:creationId xmlns:a16="http://schemas.microsoft.com/office/drawing/2014/main" id="{341F127E-5432-456A-B2D0-3ABA5714DCEE}"/>
              </a:ext>
            </a:extLst>
          </p:cNvPr>
          <p:cNvSpPr/>
          <p:nvPr/>
        </p:nvSpPr>
        <p:spPr>
          <a:xfrm>
            <a:off x="569111" y="3606334"/>
            <a:ext cx="1864311" cy="618858"/>
          </a:xfrm>
          <a:prstGeom prst="flowChartProcess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Lab Observation</a:t>
            </a:r>
          </a:p>
          <a:p>
            <a:pPr algn="ctr"/>
            <a:r>
              <a:rPr lang="en-US" sz="1000" dirty="0"/>
              <a:t>FOBT</a:t>
            </a:r>
          </a:p>
        </p:txBody>
      </p:sp>
      <p:sp>
        <p:nvSpPr>
          <p:cNvPr id="217" name="Flowchart: Process 216">
            <a:extLst>
              <a:ext uri="{FF2B5EF4-FFF2-40B4-BE49-F238E27FC236}">
                <a16:creationId xmlns:a16="http://schemas.microsoft.com/office/drawing/2014/main" id="{B1BEE8AD-D4A3-4CF5-8EC9-9D3F1C58D9B9}"/>
              </a:ext>
            </a:extLst>
          </p:cNvPr>
          <p:cNvSpPr/>
          <p:nvPr/>
        </p:nvSpPr>
        <p:spPr>
          <a:xfrm>
            <a:off x="1196031" y="4421939"/>
            <a:ext cx="1864311" cy="562122"/>
          </a:xfrm>
          <a:prstGeom prst="flowChartProcess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Procedure</a:t>
            </a:r>
          </a:p>
          <a:p>
            <a:pPr algn="ctr"/>
            <a:r>
              <a:rPr lang="en-US" sz="1000" dirty="0"/>
              <a:t>Colonoscopy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4886C1C2-F3A0-44EF-BCA7-C2527812A692}"/>
              </a:ext>
            </a:extLst>
          </p:cNvPr>
          <p:cNvSpPr txBox="1"/>
          <p:nvPr/>
        </p:nvSpPr>
        <p:spPr>
          <a:xfrm>
            <a:off x="1926289" y="3320966"/>
            <a:ext cx="445317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b="1" dirty="0"/>
              <a:t>entry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F6ED974-7528-4276-AACC-2C39662FF1B6}"/>
              </a:ext>
            </a:extLst>
          </p:cNvPr>
          <p:cNvSpPr/>
          <p:nvPr/>
        </p:nvSpPr>
        <p:spPr>
          <a:xfrm>
            <a:off x="367513" y="1518700"/>
            <a:ext cx="5550229" cy="4230094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A704C83-75AB-47C8-8624-9AA7DFD52B44}"/>
              </a:ext>
            </a:extLst>
          </p:cNvPr>
          <p:cNvSpPr txBox="1"/>
          <p:nvPr/>
        </p:nvSpPr>
        <p:spPr>
          <a:xfrm>
            <a:off x="2018156" y="1462357"/>
            <a:ext cx="20887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2060"/>
                </a:solidFill>
              </a:rPr>
              <a:t>GIC Bundle and entries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C18E9BE-BEC5-74A4-6D39-6E4B7FEF1A59}"/>
              </a:ext>
            </a:extLst>
          </p:cNvPr>
          <p:cNvCxnSpPr>
            <a:cxnSpLocks/>
            <a:stCxn id="134" idx="0"/>
            <a:endCxn id="90" idx="2"/>
          </p:cNvCxnSpPr>
          <p:nvPr/>
        </p:nvCxnSpPr>
        <p:spPr>
          <a:xfrm flipV="1">
            <a:off x="7791272" y="3756810"/>
            <a:ext cx="0" cy="832087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79B42CF-E79F-BCEF-3D5C-17930844E158}"/>
              </a:ext>
            </a:extLst>
          </p:cNvPr>
          <p:cNvSpPr txBox="1"/>
          <p:nvPr/>
        </p:nvSpPr>
        <p:spPr>
          <a:xfrm>
            <a:off x="7234391" y="4153883"/>
            <a:ext cx="1070395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rgbClr val="0070C0"/>
                </a:solidFill>
              </a:rPr>
              <a:t>evidence[0].detail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3C3EFB7-1DC4-13C3-6A53-FB0898F58256}"/>
              </a:ext>
            </a:extLst>
          </p:cNvPr>
          <p:cNvCxnSpPr>
            <a:cxnSpLocks/>
            <a:stCxn id="90" idx="0"/>
            <a:endCxn id="180" idx="2"/>
          </p:cNvCxnSpPr>
          <p:nvPr/>
        </p:nvCxnSpPr>
        <p:spPr>
          <a:xfrm flipV="1">
            <a:off x="7791272" y="2410356"/>
            <a:ext cx="0" cy="784332"/>
          </a:xfrm>
          <a:prstGeom prst="straightConnector1">
            <a:avLst/>
          </a:prstGeom>
          <a:ln w="952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21EA5E1-A303-21CE-FB5F-4B36ED3B403A}"/>
              </a:ext>
            </a:extLst>
          </p:cNvPr>
          <p:cNvSpPr txBox="1"/>
          <p:nvPr/>
        </p:nvSpPr>
        <p:spPr>
          <a:xfrm>
            <a:off x="7533467" y="2731777"/>
            <a:ext cx="633829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rgbClr val="0070C0"/>
                </a:solidFill>
              </a:rPr>
              <a:t>subject</a:t>
            </a:r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17C5488F-99E3-AB38-A0B6-6E2F49AEA5A9}"/>
              </a:ext>
            </a:extLst>
          </p:cNvPr>
          <p:cNvSpPr/>
          <p:nvPr/>
        </p:nvSpPr>
        <p:spPr>
          <a:xfrm>
            <a:off x="3949209" y="1818397"/>
            <a:ext cx="1864311" cy="613637"/>
          </a:xfrm>
          <a:prstGeom prst="flowChartProcess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GIC Composition</a:t>
            </a:r>
          </a:p>
          <a:p>
            <a:pPr algn="ctr"/>
            <a:r>
              <a:rPr lang="en-US" sz="1600" dirty="0"/>
              <a:t>(optional)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596774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572</Words>
  <Application>Microsoft Office PowerPoint</Application>
  <PresentationFormat>Widescreen</PresentationFormat>
  <Paragraphs>155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Calibri Light</vt:lpstr>
      <vt:lpstr>Office Theme</vt:lpstr>
      <vt:lpstr>Figure 1-5 Gaps in Care Reporting Scenario</vt:lpstr>
      <vt:lpstr>Gaps in Care Reporting Scenario</vt:lpstr>
      <vt:lpstr>PowerPoint Presentation</vt:lpstr>
      <vt:lpstr>PowerPoint Presentation</vt:lpstr>
      <vt:lpstr>Gaps in Care Resources</vt:lpstr>
      <vt:lpstr>PowerPoint Presentation</vt:lpstr>
      <vt:lpstr>PowerPoint Presentation</vt:lpstr>
      <vt:lpstr>DEQM Gaps In Care Bundle (document)</vt:lpstr>
      <vt:lpstr>DEQM Gaps In Care Bundle (collection)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Michaelsen, Linda J</dc:creator>
  <cp:lastModifiedBy>Bryn Rhodes</cp:lastModifiedBy>
  <cp:revision>32</cp:revision>
  <dcterms:created xsi:type="dcterms:W3CDTF">2020-07-08T21:07:53Z</dcterms:created>
  <dcterms:modified xsi:type="dcterms:W3CDTF">2026-08-14T16:57:35Z</dcterms:modified>
</cp:coreProperties>
</file>