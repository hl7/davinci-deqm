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1" r:id="rId2"/>
    <p:sldId id="259" r:id="rId3"/>
    <p:sldId id="260" r:id="rId4"/>
    <p:sldId id="4860" r:id="rId5"/>
    <p:sldId id="4863" r:id="rId6"/>
    <p:sldId id="4864" r:id="rId7"/>
    <p:sldId id="4865" r:id="rId8"/>
    <p:sldId id="257" r:id="rId9"/>
    <p:sldId id="262" r:id="rId10"/>
    <p:sldId id="258" r:id="rId11"/>
    <p:sldId id="4866" r:id="rId12"/>
    <p:sldId id="4890" r:id="rId13"/>
    <p:sldId id="48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4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3B671-C942-4B48-A4AA-E54C0E86888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65719-4AE1-4AF6-9D49-D80E803B6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C345F-24A0-4939-85DF-69C6AA67F6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71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C471-8ABD-4BC0-9CCA-028448508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FE536-DB66-4716-B3E0-446BC50BF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D308B-8589-4BBE-970D-737CCAFE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4EF5-3781-463A-8BBC-E476F126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9E0C-601C-45DC-B7D9-0AD2AFC7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4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655F-8AD7-49B7-864B-84ED1BAA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6A36-E5FD-4656-A0E7-F6250CE5F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802A7-4C45-4711-8A6F-386F421F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0171-AE56-4E43-AE8B-63B4D0D5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F959-AAE6-40F6-832C-FDD7A6FA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D731-1400-47B5-B61E-DAAFA65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C3D94-B03F-4E08-8370-710A965C3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B172C-6CFA-4099-AAA8-705A60FF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F2061-27F4-465A-9CC1-0842CADD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6511C-A266-4D5C-9E74-05D3E0AA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7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984E-3CA0-4256-89E0-468EDC00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5977-8759-40AD-8BB4-B56843CE3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1D079-70E3-4A55-9F39-9699E5F4B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0A599-C42E-46FB-811F-4F3437D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7A17-E7CD-43B7-8B18-4BAF28E9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FDA6-00C0-40D5-BBE2-E72EEF1D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9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D07B-0796-4C86-8BA5-500FE366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E8F5-ED71-4E29-93B7-841BFC47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50B52-AD40-4B7F-933E-03218BF1E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B1B74-1B77-4D8C-AC9E-31BE2AF68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56BBB-4170-4E98-9346-571603CF9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17DED-4552-4E30-9AAB-D18FED4C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FA11C-9623-46DF-92D6-85D2B205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8936E-99A9-4664-8CBD-320F94D5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0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47DC-241F-4A73-986C-C700F2B6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D9A285-08B3-4451-8B76-3741EB41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D088A-F436-4BD5-9AF3-8D63AB46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63CC4-0FF3-4EC8-B82D-73D0EFEC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2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EFEB6-26E6-403B-B57E-DCB5A5ADC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F2848-9469-4DC7-8318-AF6FAAAE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EFB9F-70A9-4DBB-9BB2-30B7FD8A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1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4941-84C7-4822-89E5-559842B6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493A-5C53-4B18-8A7D-C78848FC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EBFF9-2C6F-4316-8190-08DA74D82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0D3B4-68F5-4646-8219-9A9F2445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1E135-CC16-4174-BE4C-C041E4C3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22CE8-7343-46D5-9B7B-405E1762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1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3D24-186B-4B3E-9E00-B541A76F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9FF80-C813-4C3A-84A0-C02AD5B06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18108-501C-4F40-BB07-96160F426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99B93-E679-44B8-8E1A-832BD20E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FE3DE-7D8B-4EA1-8F84-7C3F2CC4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FC2C6-AFC0-4343-84FB-9F32181C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4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2A35-3214-4811-9F30-6AA492A9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A0F65-8CC4-44FD-BF30-9345C2157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9D73-8CDD-4985-A30E-57EB586E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13849-1BC3-4DD2-B5C0-9AA4B723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C426F-351F-42AC-AA0A-16B71366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4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4A607-5646-44B6-A80A-7C30FC2CB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10723-749F-4C06-B8B2-4CFEEB4B5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91C5A-3C8B-475C-A535-580DC3FF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85E4F-B7E9-42D1-B94B-C2EB4679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ED1D8-B4D2-498A-858D-69AB84B4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22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lumn Text">
  <p:cSld name="1-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14"/>
          <p:cNvCxnSpPr/>
          <p:nvPr/>
        </p:nvCxnSpPr>
        <p:spPr>
          <a:xfrm>
            <a:off x="609600" y="275167"/>
            <a:ext cx="0" cy="1043517"/>
          </a:xfrm>
          <a:prstGeom prst="straightConnector1">
            <a:avLst/>
          </a:prstGeom>
          <a:noFill/>
          <a:ln w="41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18196" y="274639"/>
            <a:ext cx="10972800" cy="104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>
                <a:solidFill>
                  <a:srgbClr val="EC222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19150" y="1513192"/>
            <a:ext cx="10971844" cy="450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14"/>
          <p:cNvCxnSpPr/>
          <p:nvPr/>
        </p:nvCxnSpPr>
        <p:spPr>
          <a:xfrm>
            <a:off x="1305984" y="6184900"/>
            <a:ext cx="0" cy="510117"/>
          </a:xfrm>
          <a:prstGeom prst="straightConnector1">
            <a:avLst/>
          </a:prstGeom>
          <a:noFill/>
          <a:ln w="9525" cap="flat" cmpd="sng">
            <a:solidFill>
              <a:srgbClr val="3D302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14"/>
          <p:cNvCxnSpPr/>
          <p:nvPr/>
        </p:nvCxnSpPr>
        <p:spPr>
          <a:xfrm>
            <a:off x="10174816" y="6389683"/>
            <a:ext cx="459317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1600201" y="6390217"/>
            <a:ext cx="6040967" cy="211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10217150" y="6411413"/>
            <a:ext cx="361951" cy="211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5" name="Google Shape;4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5957" y="6036324"/>
            <a:ext cx="445587" cy="658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60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3928A-EA8F-4245-A898-E868128A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224BC-AEF5-4441-AD1F-4CF1BE9D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6B7AF-B75A-42D9-AE74-D13CE8734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33FE8-8021-45D4-B0C5-0B5FC73F013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1145-1556-42B2-8B84-1EFC41A03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4E1E-1A90-46E8-A508-3FEC9199B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D7585-F134-495D-98DD-DE61DFF51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81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ECF9-89E2-4946-9684-BE18EDC3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E8F56-E215-4682-B688-10459919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NOTE: The source for the other diagrams on the home page is in the FHIR Quality Measure IG repository</a:t>
            </a:r>
          </a:p>
        </p:txBody>
      </p:sp>
    </p:spTree>
    <p:extLst>
      <p:ext uri="{BB962C8B-B14F-4D97-AF65-F5344CB8AC3E}">
        <p14:creationId xmlns:p14="http://schemas.microsoft.com/office/powerpoint/2010/main" val="375566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A5242D-B367-4DA5-A846-46385B7F4058}"/>
              </a:ext>
            </a:extLst>
          </p:cNvPr>
          <p:cNvSpPr/>
          <p:nvPr/>
        </p:nvSpPr>
        <p:spPr>
          <a:xfrm>
            <a:off x="6294329" y="1355062"/>
            <a:ext cx="2624959" cy="2555549"/>
          </a:xfrm>
          <a:prstGeom prst="roundRect">
            <a:avLst>
              <a:gd name="adj" fmla="val 790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4359B2-FBCE-45C5-9985-DB046BCC1F55}"/>
              </a:ext>
            </a:extLst>
          </p:cNvPr>
          <p:cNvSpPr/>
          <p:nvPr/>
        </p:nvSpPr>
        <p:spPr>
          <a:xfrm>
            <a:off x="3347439" y="1355063"/>
            <a:ext cx="2624959" cy="2555549"/>
          </a:xfrm>
          <a:prstGeom prst="roundRect">
            <a:avLst>
              <a:gd name="adj" fmla="val 790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8C27C6-A8F7-4EB1-AC17-256FCEF52D75}"/>
              </a:ext>
            </a:extLst>
          </p:cNvPr>
          <p:cNvSpPr/>
          <p:nvPr/>
        </p:nvSpPr>
        <p:spPr>
          <a:xfrm>
            <a:off x="2554014" y="2238702"/>
            <a:ext cx="1734208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Providers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CA6A54-71B1-49F3-9E4E-30782D630A40}"/>
              </a:ext>
            </a:extLst>
          </p:cNvPr>
          <p:cNvSpPr/>
          <p:nvPr/>
        </p:nvSpPr>
        <p:spPr>
          <a:xfrm>
            <a:off x="5260427" y="2238701"/>
            <a:ext cx="1734208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Aggregators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9D8396-DEA9-4AB0-8899-46A551BA2B7D}"/>
              </a:ext>
            </a:extLst>
          </p:cNvPr>
          <p:cNvSpPr/>
          <p:nvPr/>
        </p:nvSpPr>
        <p:spPr>
          <a:xfrm>
            <a:off x="7966840" y="2238701"/>
            <a:ext cx="1734208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Receivers</a:t>
            </a: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FA4DF3AE-0825-48AC-9219-F02047D72F65}"/>
              </a:ext>
            </a:extLst>
          </p:cNvPr>
          <p:cNvSpPr/>
          <p:nvPr/>
        </p:nvSpPr>
        <p:spPr>
          <a:xfrm>
            <a:off x="3907221" y="1654431"/>
            <a:ext cx="1734208" cy="978408"/>
          </a:xfrm>
          <a:prstGeom prst="circularArrow">
            <a:avLst>
              <a:gd name="adj1" fmla="val 3309"/>
              <a:gd name="adj2" fmla="val 697099"/>
              <a:gd name="adj3" fmla="val 21018354"/>
              <a:gd name="adj4" fmla="val 10760252"/>
              <a:gd name="adj5" fmla="val 70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5225920C-D0FE-4BBF-8781-6A11E40B3DEF}"/>
              </a:ext>
            </a:extLst>
          </p:cNvPr>
          <p:cNvSpPr/>
          <p:nvPr/>
        </p:nvSpPr>
        <p:spPr>
          <a:xfrm rot="10800000">
            <a:off x="3907220" y="2632840"/>
            <a:ext cx="1734208" cy="978408"/>
          </a:xfrm>
          <a:prstGeom prst="circularArrow">
            <a:avLst>
              <a:gd name="adj1" fmla="val 3309"/>
              <a:gd name="adj2" fmla="val 697099"/>
              <a:gd name="adj3" fmla="val 21018354"/>
              <a:gd name="adj4" fmla="val 10760252"/>
              <a:gd name="adj5" fmla="val 70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29B8AD1-13E9-444A-B7CD-6C4120D04F71}"/>
              </a:ext>
            </a:extLst>
          </p:cNvPr>
          <p:cNvSpPr/>
          <p:nvPr/>
        </p:nvSpPr>
        <p:spPr>
          <a:xfrm>
            <a:off x="2609021" y="3758793"/>
            <a:ext cx="978408" cy="48463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81DD1B9B-200A-438F-A0E4-6C248ED5CD59}"/>
              </a:ext>
            </a:extLst>
          </p:cNvPr>
          <p:cNvSpPr/>
          <p:nvPr/>
        </p:nvSpPr>
        <p:spPr>
          <a:xfrm>
            <a:off x="3587429" y="3758793"/>
            <a:ext cx="978408" cy="48463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8BA4365-A150-4FD6-9FEF-8FA2C956CAF6}"/>
              </a:ext>
            </a:extLst>
          </p:cNvPr>
          <p:cNvSpPr/>
          <p:nvPr/>
        </p:nvSpPr>
        <p:spPr>
          <a:xfrm>
            <a:off x="4565837" y="3758793"/>
            <a:ext cx="978408" cy="48463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3B8A07A9-79C6-4050-8CE1-EF7EAEFD078B}"/>
              </a:ext>
            </a:extLst>
          </p:cNvPr>
          <p:cNvSpPr/>
          <p:nvPr/>
        </p:nvSpPr>
        <p:spPr>
          <a:xfrm>
            <a:off x="5544245" y="3758793"/>
            <a:ext cx="978408" cy="484632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71AA151A-D77F-4A87-9B7C-4C202BBB397A}"/>
              </a:ext>
            </a:extLst>
          </p:cNvPr>
          <p:cNvSpPr/>
          <p:nvPr/>
        </p:nvSpPr>
        <p:spPr>
          <a:xfrm>
            <a:off x="6500175" y="3516477"/>
            <a:ext cx="988919" cy="969264"/>
          </a:xfrm>
          <a:prstGeom prst="notchedRightArrow">
            <a:avLst>
              <a:gd name="adj1" fmla="val 50000"/>
              <a:gd name="adj2" fmla="val 548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48BFB20-858B-407A-8813-88683EF0ED4F}"/>
              </a:ext>
            </a:extLst>
          </p:cNvPr>
          <p:cNvSpPr/>
          <p:nvPr/>
        </p:nvSpPr>
        <p:spPr>
          <a:xfrm>
            <a:off x="7076088" y="2585544"/>
            <a:ext cx="809298" cy="945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0ACF03-3E21-4783-A1BC-2E6A3F24CB67}"/>
              </a:ext>
            </a:extLst>
          </p:cNvPr>
          <p:cNvSpPr txBox="1"/>
          <p:nvPr/>
        </p:nvSpPr>
        <p:spPr>
          <a:xfrm>
            <a:off x="3767029" y="973328"/>
            <a:ext cx="201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Exchange Scenarios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9C991-B75E-4E1C-82AB-C8912DED7F00}"/>
              </a:ext>
            </a:extLst>
          </p:cNvPr>
          <p:cNvSpPr txBox="1"/>
          <p:nvPr/>
        </p:nvSpPr>
        <p:spPr>
          <a:xfrm>
            <a:off x="6599513" y="982898"/>
            <a:ext cx="205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Reporting Scenarios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74DC83-FDAC-4BE4-B479-F9CA0E1AD844}"/>
              </a:ext>
            </a:extLst>
          </p:cNvPr>
          <p:cNvSpPr txBox="1"/>
          <p:nvPr/>
        </p:nvSpPr>
        <p:spPr>
          <a:xfrm>
            <a:off x="4027223" y="4255626"/>
            <a:ext cx="2209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Measurement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99BC3-731A-4D2B-9BCD-2F45DFA49C48}"/>
              </a:ext>
            </a:extLst>
          </p:cNvPr>
          <p:cNvSpPr txBox="1"/>
          <p:nvPr/>
        </p:nvSpPr>
        <p:spPr>
          <a:xfrm>
            <a:off x="188663" y="201721"/>
            <a:ext cx="278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Quality Reporting Scenarios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2D3CEE-27B0-4207-97AA-96A4BCA75AD0}"/>
              </a:ext>
            </a:extLst>
          </p:cNvPr>
          <p:cNvSpPr/>
          <p:nvPr/>
        </p:nvSpPr>
        <p:spPr>
          <a:xfrm>
            <a:off x="2970963" y="4773105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D078174-DD93-4B60-9E10-D033CB23A4AC}"/>
              </a:ext>
            </a:extLst>
          </p:cNvPr>
          <p:cNvSpPr/>
          <p:nvPr/>
        </p:nvSpPr>
        <p:spPr>
          <a:xfrm>
            <a:off x="2970963" y="5297152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1A1A947-A48B-4F73-B101-F4DEB368CFD1}"/>
              </a:ext>
            </a:extLst>
          </p:cNvPr>
          <p:cNvSpPr/>
          <p:nvPr/>
        </p:nvSpPr>
        <p:spPr>
          <a:xfrm>
            <a:off x="2970963" y="5821199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6A7B3C-087B-4086-B8CF-BC973DE13751}"/>
              </a:ext>
            </a:extLst>
          </p:cNvPr>
          <p:cNvSpPr/>
          <p:nvPr/>
        </p:nvSpPr>
        <p:spPr>
          <a:xfrm>
            <a:off x="6033449" y="4763078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85EDC90-8346-42AF-973D-DFB42CF7DC56}"/>
              </a:ext>
            </a:extLst>
          </p:cNvPr>
          <p:cNvSpPr/>
          <p:nvPr/>
        </p:nvSpPr>
        <p:spPr>
          <a:xfrm>
            <a:off x="6033449" y="5290488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283339-11C6-4E92-841E-B25BDA2A2054}"/>
              </a:ext>
            </a:extLst>
          </p:cNvPr>
          <p:cNvSpPr/>
          <p:nvPr/>
        </p:nvSpPr>
        <p:spPr>
          <a:xfrm>
            <a:off x="6033449" y="5814535"/>
            <a:ext cx="3310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936F3F-CEDB-4BD7-9BDE-1379D8563790}"/>
              </a:ext>
            </a:extLst>
          </p:cNvPr>
          <p:cNvSpPr txBox="1"/>
          <p:nvPr/>
        </p:nvSpPr>
        <p:spPr>
          <a:xfrm>
            <a:off x="3464757" y="4773105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 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EC4D0D-AD37-4542-9E9E-509CC721F37E}"/>
              </a:ext>
            </a:extLst>
          </p:cNvPr>
          <p:cNvSpPr txBox="1"/>
          <p:nvPr/>
        </p:nvSpPr>
        <p:spPr>
          <a:xfrm>
            <a:off x="3453535" y="5303720"/>
            <a:ext cx="13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220F5C-FA4B-4797-90DD-A97C755C3F4D}"/>
              </a:ext>
            </a:extLst>
          </p:cNvPr>
          <p:cNvSpPr txBox="1"/>
          <p:nvPr/>
        </p:nvSpPr>
        <p:spPr>
          <a:xfrm>
            <a:off x="3464757" y="5835429"/>
            <a:ext cx="134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Subscription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AC1126-8A72-43E0-81B6-CDB1970A707E}"/>
              </a:ext>
            </a:extLst>
          </p:cNvPr>
          <p:cNvSpPr txBox="1"/>
          <p:nvPr/>
        </p:nvSpPr>
        <p:spPr>
          <a:xfrm>
            <a:off x="6548289" y="4746955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F38669-ACCD-4463-89D1-B738E5C4071D}"/>
              </a:ext>
            </a:extLst>
          </p:cNvPr>
          <p:cNvSpPr txBox="1"/>
          <p:nvPr/>
        </p:nvSpPr>
        <p:spPr>
          <a:xfrm>
            <a:off x="6537067" y="527757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76EA77-8354-472A-B825-A49D042C6325}"/>
              </a:ext>
            </a:extLst>
          </p:cNvPr>
          <p:cNvSpPr txBox="1"/>
          <p:nvPr/>
        </p:nvSpPr>
        <p:spPr>
          <a:xfrm>
            <a:off x="6548289" y="5809279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Patient List</a:t>
            </a:r>
          </a:p>
        </p:txBody>
      </p:sp>
    </p:spTree>
    <p:extLst>
      <p:ext uri="{BB962C8B-B14F-4D97-AF65-F5344CB8AC3E}">
        <p14:creationId xmlns:p14="http://schemas.microsoft.com/office/powerpoint/2010/main" val="155135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A5242D-B367-4DA5-A846-46385B7F4058}"/>
              </a:ext>
            </a:extLst>
          </p:cNvPr>
          <p:cNvSpPr/>
          <p:nvPr/>
        </p:nvSpPr>
        <p:spPr>
          <a:xfrm>
            <a:off x="5677417" y="1368040"/>
            <a:ext cx="3516244" cy="3774892"/>
          </a:xfrm>
          <a:prstGeom prst="roundRect">
            <a:avLst>
              <a:gd name="adj" fmla="val 790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4359B2-FBCE-45C5-9985-DB046BCC1F55}"/>
              </a:ext>
            </a:extLst>
          </p:cNvPr>
          <p:cNvSpPr/>
          <p:nvPr/>
        </p:nvSpPr>
        <p:spPr>
          <a:xfrm>
            <a:off x="1677418" y="1368040"/>
            <a:ext cx="3638342" cy="3774892"/>
          </a:xfrm>
          <a:prstGeom prst="roundRect">
            <a:avLst>
              <a:gd name="adj" fmla="val 790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9D8396-DEA9-4AB0-8899-46A551BA2B7D}"/>
              </a:ext>
            </a:extLst>
          </p:cNvPr>
          <p:cNvSpPr/>
          <p:nvPr/>
        </p:nvSpPr>
        <p:spPr>
          <a:xfrm>
            <a:off x="8341256" y="2610429"/>
            <a:ext cx="1822429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Receivers</a:t>
            </a: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FA4DF3AE-0825-48AC-9219-F02047D72F65}"/>
              </a:ext>
            </a:extLst>
          </p:cNvPr>
          <p:cNvSpPr/>
          <p:nvPr/>
        </p:nvSpPr>
        <p:spPr>
          <a:xfrm>
            <a:off x="2479210" y="1938971"/>
            <a:ext cx="2604948" cy="1261007"/>
          </a:xfrm>
          <a:prstGeom prst="circularArrow">
            <a:avLst>
              <a:gd name="adj1" fmla="val 3309"/>
              <a:gd name="adj2" fmla="val 761917"/>
              <a:gd name="adj3" fmla="val 21018354"/>
              <a:gd name="adj4" fmla="val 10666627"/>
              <a:gd name="adj5" fmla="val 70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5225920C-D0FE-4BBF-8781-6A11E40B3DEF}"/>
              </a:ext>
            </a:extLst>
          </p:cNvPr>
          <p:cNvSpPr/>
          <p:nvPr/>
        </p:nvSpPr>
        <p:spPr>
          <a:xfrm rot="10800000">
            <a:off x="2455989" y="2785132"/>
            <a:ext cx="2628169" cy="1356979"/>
          </a:xfrm>
          <a:prstGeom prst="circularArrow">
            <a:avLst>
              <a:gd name="adj1" fmla="val 3309"/>
              <a:gd name="adj2" fmla="val 697099"/>
              <a:gd name="adj3" fmla="val 21018354"/>
              <a:gd name="adj4" fmla="val 10650853"/>
              <a:gd name="adj5" fmla="val 70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48BFB20-858B-407A-8813-88683EF0ED4F}"/>
              </a:ext>
            </a:extLst>
          </p:cNvPr>
          <p:cNvSpPr/>
          <p:nvPr/>
        </p:nvSpPr>
        <p:spPr>
          <a:xfrm>
            <a:off x="6339588" y="2960868"/>
            <a:ext cx="1955225" cy="1177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0ACF03-3E21-4783-A1BC-2E6A3F24CB67}"/>
              </a:ext>
            </a:extLst>
          </p:cNvPr>
          <p:cNvSpPr txBox="1"/>
          <p:nvPr/>
        </p:nvSpPr>
        <p:spPr>
          <a:xfrm>
            <a:off x="2329474" y="5253698"/>
            <a:ext cx="208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Exchange Scenarios: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9C991-B75E-4E1C-82AB-C8912DED7F00}"/>
              </a:ext>
            </a:extLst>
          </p:cNvPr>
          <p:cNvSpPr txBox="1"/>
          <p:nvPr/>
        </p:nvSpPr>
        <p:spPr>
          <a:xfrm>
            <a:off x="6339588" y="5259860"/>
            <a:ext cx="212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Reporting Scenarios: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3557E3-0CAD-984F-A138-ED1F380E79BA}"/>
              </a:ext>
            </a:extLst>
          </p:cNvPr>
          <p:cNvGrpSpPr/>
          <p:nvPr/>
        </p:nvGrpSpPr>
        <p:grpSpPr>
          <a:xfrm>
            <a:off x="1373867" y="883408"/>
            <a:ext cx="4965722" cy="969264"/>
            <a:chOff x="1458252" y="478790"/>
            <a:chExt cx="4880073" cy="969264"/>
          </a:xfrm>
        </p:grpSpPr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729B8AD1-13E9-444A-B7CD-6C4120D04F71}"/>
                </a:ext>
              </a:extLst>
            </p:cNvPr>
            <p:cNvSpPr/>
            <p:nvPr/>
          </p:nvSpPr>
          <p:spPr>
            <a:xfrm>
              <a:off x="1458252" y="721106"/>
              <a:ext cx="978408" cy="484632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81DD1B9B-200A-438F-A0E4-6C248ED5CD59}"/>
                </a:ext>
              </a:extLst>
            </p:cNvPr>
            <p:cNvSpPr/>
            <p:nvPr/>
          </p:nvSpPr>
          <p:spPr>
            <a:xfrm>
              <a:off x="2436660" y="721106"/>
              <a:ext cx="978408" cy="484632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08BA4365-A150-4FD6-9FEF-8FA2C956CAF6}"/>
                </a:ext>
              </a:extLst>
            </p:cNvPr>
            <p:cNvSpPr/>
            <p:nvPr/>
          </p:nvSpPr>
          <p:spPr>
            <a:xfrm>
              <a:off x="3415068" y="721106"/>
              <a:ext cx="978408" cy="484632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3B8A07A9-79C6-4050-8CE1-EF7EAEFD078B}"/>
                </a:ext>
              </a:extLst>
            </p:cNvPr>
            <p:cNvSpPr/>
            <p:nvPr/>
          </p:nvSpPr>
          <p:spPr>
            <a:xfrm>
              <a:off x="4393476" y="721106"/>
              <a:ext cx="978408" cy="484632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Arrow: Notched Right 19">
              <a:extLst>
                <a:ext uri="{FF2B5EF4-FFF2-40B4-BE49-F238E27FC236}">
                  <a16:creationId xmlns:a16="http://schemas.microsoft.com/office/drawing/2014/main" id="{71AA151A-D77F-4A87-9B7C-4C202BBB397A}"/>
                </a:ext>
              </a:extLst>
            </p:cNvPr>
            <p:cNvSpPr/>
            <p:nvPr/>
          </p:nvSpPr>
          <p:spPr>
            <a:xfrm>
              <a:off x="5349406" y="478790"/>
              <a:ext cx="988919" cy="969264"/>
            </a:xfrm>
            <a:prstGeom prst="notchedRightArrow">
              <a:avLst>
                <a:gd name="adj1" fmla="val 50000"/>
                <a:gd name="adj2" fmla="val 5488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974DC83-FDAC-4BE4-B479-F9CA0E1AD844}"/>
              </a:ext>
            </a:extLst>
          </p:cNvPr>
          <p:cNvSpPr txBox="1"/>
          <p:nvPr/>
        </p:nvSpPr>
        <p:spPr>
          <a:xfrm>
            <a:off x="2444949" y="776751"/>
            <a:ext cx="2209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Measurement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99BC3-731A-4D2B-9BCD-2F45DFA49C48}"/>
              </a:ext>
            </a:extLst>
          </p:cNvPr>
          <p:cNvSpPr txBox="1"/>
          <p:nvPr/>
        </p:nvSpPr>
        <p:spPr>
          <a:xfrm>
            <a:off x="188663" y="201721"/>
            <a:ext cx="278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Quality Reporting Scenarios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6DA874-73EC-BD4A-B710-73713864466C}"/>
              </a:ext>
            </a:extLst>
          </p:cNvPr>
          <p:cNvGrpSpPr/>
          <p:nvPr/>
        </p:nvGrpSpPr>
        <p:grpSpPr>
          <a:xfrm>
            <a:off x="6497766" y="3500792"/>
            <a:ext cx="1913447" cy="918761"/>
            <a:chOff x="6796559" y="3235267"/>
            <a:chExt cx="1913447" cy="918761"/>
          </a:xfrm>
        </p:grpSpPr>
        <p:sp>
          <p:nvSpPr>
            <p:cNvPr id="59" name="Snip Single Corner Rectangle 58">
              <a:extLst>
                <a:ext uri="{FF2B5EF4-FFF2-40B4-BE49-F238E27FC236}">
                  <a16:creationId xmlns:a16="http://schemas.microsoft.com/office/drawing/2014/main" id="{A57D1F6A-D447-164F-A432-DFE0DA3047FB}"/>
                </a:ext>
              </a:extLst>
            </p:cNvPr>
            <p:cNvSpPr/>
            <p:nvPr/>
          </p:nvSpPr>
          <p:spPr>
            <a:xfrm>
              <a:off x="6843003" y="3235267"/>
              <a:ext cx="1702641" cy="918761"/>
            </a:xfrm>
            <a:prstGeom prst="snip1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AC1126-8A72-43E0-81B6-CDB1970A707E}"/>
                </a:ext>
              </a:extLst>
            </p:cNvPr>
            <p:cNvSpPr txBox="1"/>
            <p:nvPr/>
          </p:nvSpPr>
          <p:spPr>
            <a:xfrm>
              <a:off x="6811245" y="3241146"/>
              <a:ext cx="1592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" pitchFamily="2" charset="0"/>
                </a:rPr>
                <a:t>individual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9F38669-ACCD-4463-89D1-B738E5C4071D}"/>
                </a:ext>
              </a:extLst>
            </p:cNvPr>
            <p:cNvSpPr txBox="1"/>
            <p:nvPr/>
          </p:nvSpPr>
          <p:spPr>
            <a:xfrm>
              <a:off x="6811245" y="3528554"/>
              <a:ext cx="12800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" pitchFamily="2" charset="0"/>
                </a:rPr>
                <a:t>summary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76EA77-8354-472A-B825-A49D042C6325}"/>
                </a:ext>
              </a:extLst>
            </p:cNvPr>
            <p:cNvSpPr txBox="1"/>
            <p:nvPr/>
          </p:nvSpPr>
          <p:spPr>
            <a:xfrm>
              <a:off x="6796559" y="3815474"/>
              <a:ext cx="19134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" pitchFamily="2" charset="0"/>
                </a:rPr>
                <a:t>patient-list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7C10D4D-E94F-E142-91D7-2B14A108A1E4}"/>
              </a:ext>
            </a:extLst>
          </p:cNvPr>
          <p:cNvSpPr txBox="1"/>
          <p:nvPr/>
        </p:nvSpPr>
        <p:spPr>
          <a:xfrm>
            <a:off x="1517598" y="5602473"/>
            <a:ext cx="383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 Data, Collect Data, Subscription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EC9073-E7FB-DE4B-9FC4-E36D1CFA9550}"/>
              </a:ext>
            </a:extLst>
          </p:cNvPr>
          <p:cNvGrpSpPr/>
          <p:nvPr/>
        </p:nvGrpSpPr>
        <p:grpSpPr>
          <a:xfrm>
            <a:off x="2707669" y="4207298"/>
            <a:ext cx="2124808" cy="664084"/>
            <a:chOff x="2862110" y="2885008"/>
            <a:chExt cx="2247060" cy="583024"/>
          </a:xfrm>
        </p:grpSpPr>
        <p:sp>
          <p:nvSpPr>
            <p:cNvPr id="9" name="Snip Single Corner Rectangle 8">
              <a:extLst>
                <a:ext uri="{FF2B5EF4-FFF2-40B4-BE49-F238E27FC236}">
                  <a16:creationId xmlns:a16="http://schemas.microsoft.com/office/drawing/2014/main" id="{0854D18C-8904-5248-9E54-B9A7993466BA}"/>
                </a:ext>
              </a:extLst>
            </p:cNvPr>
            <p:cNvSpPr/>
            <p:nvPr/>
          </p:nvSpPr>
          <p:spPr>
            <a:xfrm>
              <a:off x="2862110" y="2885008"/>
              <a:ext cx="2247060" cy="583024"/>
            </a:xfrm>
            <a:prstGeom prst="snip1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112CC0E-364C-4B40-941C-ECFBE718FD91}"/>
                </a:ext>
              </a:extLst>
            </p:cNvPr>
            <p:cNvSpPr txBox="1"/>
            <p:nvPr/>
          </p:nvSpPr>
          <p:spPr>
            <a:xfrm>
              <a:off x="2921276" y="3024531"/>
              <a:ext cx="2153285" cy="29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" pitchFamily="2" charset="0"/>
                </a:rPr>
                <a:t>data-collection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579A05-9DD2-BC46-8BE8-67B089111F3E}"/>
              </a:ext>
            </a:extLst>
          </p:cNvPr>
          <p:cNvSpPr txBox="1"/>
          <p:nvPr/>
        </p:nvSpPr>
        <p:spPr>
          <a:xfrm>
            <a:off x="7017426" y="5599276"/>
            <a:ext cx="69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CA6A54-71B1-49F3-9E4E-30782D630A40}"/>
              </a:ext>
            </a:extLst>
          </p:cNvPr>
          <p:cNvSpPr/>
          <p:nvPr/>
        </p:nvSpPr>
        <p:spPr>
          <a:xfrm>
            <a:off x="4470314" y="2613368"/>
            <a:ext cx="1869274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Consumers/</a:t>
            </a:r>
          </a:p>
          <a:p>
            <a:pPr algn="ctr"/>
            <a:r>
              <a:rPr lang="en-US" dirty="0"/>
              <a:t>Reporters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8C27C6-A8F7-4EB1-AC17-256FCEF52D75}"/>
              </a:ext>
            </a:extLst>
          </p:cNvPr>
          <p:cNvSpPr/>
          <p:nvPr/>
        </p:nvSpPr>
        <p:spPr>
          <a:xfrm>
            <a:off x="1326792" y="2660940"/>
            <a:ext cx="1869274" cy="788277"/>
          </a:xfrm>
          <a:prstGeom prst="roundRect">
            <a:avLst>
              <a:gd name="adj" fmla="val 228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Producers</a:t>
            </a:r>
          </a:p>
        </p:txBody>
      </p:sp>
    </p:spTree>
    <p:extLst>
      <p:ext uri="{BB962C8B-B14F-4D97-AF65-F5344CB8AC3E}">
        <p14:creationId xmlns:p14="http://schemas.microsoft.com/office/powerpoint/2010/main" val="392783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B12AAC12-A642-2D53-3DF6-D414DD52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Reporting – Ecosystem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FDB10-F6A8-9E33-9F1F-5CEA1C5673EA}"/>
              </a:ext>
            </a:extLst>
          </p:cNvPr>
          <p:cNvSpPr/>
          <p:nvPr/>
        </p:nvSpPr>
        <p:spPr>
          <a:xfrm>
            <a:off x="4017197" y="4431398"/>
            <a:ext cx="1539832" cy="90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Provider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B428D-92AB-4618-98C2-CBB747702124}"/>
              </a:ext>
            </a:extLst>
          </p:cNvPr>
          <p:cNvSpPr/>
          <p:nvPr/>
        </p:nvSpPr>
        <p:spPr>
          <a:xfrm>
            <a:off x="7096861" y="4431398"/>
            <a:ext cx="1539832" cy="90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Receiving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14751-0B08-2ED3-7DA0-4F4D86A2B223}"/>
              </a:ext>
            </a:extLst>
          </p:cNvPr>
          <p:cNvSpPr txBox="1"/>
          <p:nvPr/>
        </p:nvSpPr>
        <p:spPr>
          <a:xfrm>
            <a:off x="5012535" y="3234402"/>
            <a:ext cx="980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A296F8FE-E234-557D-558C-170B80C964B8}"/>
              </a:ext>
            </a:extLst>
          </p:cNvPr>
          <p:cNvSpPr/>
          <p:nvPr/>
        </p:nvSpPr>
        <p:spPr>
          <a:xfrm>
            <a:off x="5320580" y="3511400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AB254-30B8-3E51-2314-209F392C4D68}"/>
              </a:ext>
            </a:extLst>
          </p:cNvPr>
          <p:cNvSpPr/>
          <p:nvPr/>
        </p:nvSpPr>
        <p:spPr>
          <a:xfrm>
            <a:off x="5557028" y="1802169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Authority/</a:t>
            </a:r>
          </a:p>
          <a:p>
            <a:pPr algn="ctr"/>
            <a:r>
              <a:rPr lang="en-US" sz="1400" dirty="0"/>
              <a:t>Agency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C5E0B-23B0-7DB8-4B60-BD2DB5638FC6}"/>
              </a:ext>
            </a:extLst>
          </p:cNvPr>
          <p:cNvSpPr txBox="1"/>
          <p:nvPr/>
        </p:nvSpPr>
        <p:spPr>
          <a:xfrm>
            <a:off x="6013016" y="4228167"/>
            <a:ext cx="608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Report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45158A6F-A091-B4B0-511F-CE190B1AF9B6}"/>
              </a:ext>
            </a:extLst>
          </p:cNvPr>
          <p:cNvSpPr/>
          <p:nvPr/>
        </p:nvSpPr>
        <p:spPr>
          <a:xfrm>
            <a:off x="6135113" y="4505165"/>
            <a:ext cx="364177" cy="377043"/>
          </a:xfrm>
          <a:prstGeom prst="flowChartDocumen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6E584-6C57-05D6-6FBE-B916237EB88D}"/>
              </a:ext>
            </a:extLst>
          </p:cNvPr>
          <p:cNvSpPr/>
          <p:nvPr/>
        </p:nvSpPr>
        <p:spPr>
          <a:xfrm>
            <a:off x="3761448" y="1517808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Measure Specifications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C7517-50A8-A636-39B7-19F92483F07C}"/>
              </a:ext>
            </a:extLst>
          </p:cNvPr>
          <p:cNvSpPr/>
          <p:nvPr/>
        </p:nvSpPr>
        <p:spPr>
          <a:xfrm>
            <a:off x="2952828" y="2774315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Terminology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B6449AB-2D86-4BD4-25D0-E1775020076A}"/>
              </a:ext>
            </a:extLst>
          </p:cNvPr>
          <p:cNvSpPr/>
          <p:nvPr/>
        </p:nvSpPr>
        <p:spPr>
          <a:xfrm>
            <a:off x="5837741" y="4991669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238D0C3-DAAF-1745-4C96-F1DDBC201139}"/>
              </a:ext>
            </a:extLst>
          </p:cNvPr>
          <p:cNvSpPr/>
          <p:nvPr/>
        </p:nvSpPr>
        <p:spPr>
          <a:xfrm>
            <a:off x="4822694" y="2639293"/>
            <a:ext cx="219605" cy="16042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D5FE82A-F970-4700-495F-E243EA30201B}"/>
              </a:ext>
            </a:extLst>
          </p:cNvPr>
          <p:cNvSpPr/>
          <p:nvPr/>
        </p:nvSpPr>
        <p:spPr>
          <a:xfrm>
            <a:off x="4146839" y="3868143"/>
            <a:ext cx="219605" cy="4130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284701-321C-08C9-630C-D9F6369C0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3032"/>
            <a:ext cx="1128965" cy="21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1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B61C61F2-038D-B1B0-C85D-12EFCC73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Reporting – IGs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FDB10-F6A8-9E33-9F1F-5CEA1C5673EA}"/>
              </a:ext>
            </a:extLst>
          </p:cNvPr>
          <p:cNvSpPr/>
          <p:nvPr/>
        </p:nvSpPr>
        <p:spPr>
          <a:xfrm>
            <a:off x="4008549" y="4412281"/>
            <a:ext cx="1539832" cy="90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Provider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B428D-92AB-4618-98C2-CBB747702124}"/>
              </a:ext>
            </a:extLst>
          </p:cNvPr>
          <p:cNvSpPr/>
          <p:nvPr/>
        </p:nvSpPr>
        <p:spPr>
          <a:xfrm>
            <a:off x="7088213" y="4412281"/>
            <a:ext cx="1539832" cy="905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Receiving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14751-0B08-2ED3-7DA0-4F4D86A2B223}"/>
              </a:ext>
            </a:extLst>
          </p:cNvPr>
          <p:cNvSpPr txBox="1"/>
          <p:nvPr/>
        </p:nvSpPr>
        <p:spPr>
          <a:xfrm>
            <a:off x="5003887" y="3215285"/>
            <a:ext cx="980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A296F8FE-E234-557D-558C-170B80C964B8}"/>
              </a:ext>
            </a:extLst>
          </p:cNvPr>
          <p:cNvSpPr/>
          <p:nvPr/>
        </p:nvSpPr>
        <p:spPr>
          <a:xfrm>
            <a:off x="5311932" y="3492283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AB254-30B8-3E51-2314-209F392C4D68}"/>
              </a:ext>
            </a:extLst>
          </p:cNvPr>
          <p:cNvSpPr/>
          <p:nvPr/>
        </p:nvSpPr>
        <p:spPr>
          <a:xfrm>
            <a:off x="6188459" y="1646400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Authority/</a:t>
            </a:r>
          </a:p>
          <a:p>
            <a:pPr algn="ctr"/>
            <a:r>
              <a:rPr lang="en-US" sz="1400" dirty="0"/>
              <a:t>Agency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C5E0B-23B0-7DB8-4B60-BD2DB5638FC6}"/>
              </a:ext>
            </a:extLst>
          </p:cNvPr>
          <p:cNvSpPr txBox="1"/>
          <p:nvPr/>
        </p:nvSpPr>
        <p:spPr>
          <a:xfrm>
            <a:off x="6004370" y="4209050"/>
            <a:ext cx="608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Report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45158A6F-A091-B4B0-511F-CE190B1AF9B6}"/>
              </a:ext>
            </a:extLst>
          </p:cNvPr>
          <p:cNvSpPr/>
          <p:nvPr/>
        </p:nvSpPr>
        <p:spPr>
          <a:xfrm>
            <a:off x="6126465" y="4486048"/>
            <a:ext cx="364177" cy="377043"/>
          </a:xfrm>
          <a:prstGeom prst="flowChartDocumen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6E584-6C57-05D6-6FBE-B916237EB88D}"/>
              </a:ext>
            </a:extLst>
          </p:cNvPr>
          <p:cNvSpPr/>
          <p:nvPr/>
        </p:nvSpPr>
        <p:spPr>
          <a:xfrm>
            <a:off x="3752800" y="1498691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Measure Repository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C7517-50A8-A636-39B7-19F92483F07C}"/>
              </a:ext>
            </a:extLst>
          </p:cNvPr>
          <p:cNvSpPr/>
          <p:nvPr/>
        </p:nvSpPr>
        <p:spPr>
          <a:xfrm>
            <a:off x="2944180" y="2755197"/>
            <a:ext cx="1539833" cy="973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Terminology</a:t>
            </a:r>
          </a:p>
          <a:p>
            <a:pPr algn="ctr"/>
            <a:r>
              <a:rPr lang="en-US" sz="1400" dirty="0"/>
              <a:t>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40D12-DEED-782C-413F-7716094D97BA}"/>
              </a:ext>
            </a:extLst>
          </p:cNvPr>
          <p:cNvSpPr txBox="1"/>
          <p:nvPr/>
        </p:nvSpPr>
        <p:spPr>
          <a:xfrm>
            <a:off x="7190893" y="3382214"/>
            <a:ext cx="1210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Measure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A645A3-C484-2A7E-1F79-8A3DB80A2289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flipH="1">
            <a:off x="5676109" y="3536103"/>
            <a:ext cx="1514784" cy="14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6E2C6D9-061B-9B01-0F0F-F36515C342D1}"/>
              </a:ext>
            </a:extLst>
          </p:cNvPr>
          <p:cNvSpPr txBox="1"/>
          <p:nvPr/>
        </p:nvSpPr>
        <p:spPr>
          <a:xfrm>
            <a:off x="7120620" y="3952149"/>
            <a:ext cx="1326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MeasureReport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D6A23D-D179-57E6-1AA2-9D1D5B2841E4}"/>
              </a:ext>
            </a:extLst>
          </p:cNvPr>
          <p:cNvCxnSpPr>
            <a:cxnSpLocks/>
            <a:stCxn id="22" idx="1"/>
            <a:endCxn id="9" idx="3"/>
          </p:cNvCxnSpPr>
          <p:nvPr/>
        </p:nvCxnSpPr>
        <p:spPr>
          <a:xfrm flipH="1">
            <a:off x="6490642" y="4106038"/>
            <a:ext cx="629978" cy="568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B6449AB-2D86-4BD4-25D0-E1775020076A}"/>
              </a:ext>
            </a:extLst>
          </p:cNvPr>
          <p:cNvSpPr/>
          <p:nvPr/>
        </p:nvSpPr>
        <p:spPr>
          <a:xfrm>
            <a:off x="5829093" y="4972551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238D0C3-DAAF-1745-4C96-F1DDBC201139}"/>
              </a:ext>
            </a:extLst>
          </p:cNvPr>
          <p:cNvSpPr/>
          <p:nvPr/>
        </p:nvSpPr>
        <p:spPr>
          <a:xfrm>
            <a:off x="4814046" y="2620176"/>
            <a:ext cx="219605" cy="16042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D5FE82A-F970-4700-495F-E243EA30201B}"/>
              </a:ext>
            </a:extLst>
          </p:cNvPr>
          <p:cNvSpPr/>
          <p:nvPr/>
        </p:nvSpPr>
        <p:spPr>
          <a:xfrm>
            <a:off x="4138191" y="3849025"/>
            <a:ext cx="219605" cy="4130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6B7DF0-5F0B-3C70-2820-405461EFC76D}"/>
              </a:ext>
            </a:extLst>
          </p:cNvPr>
          <p:cNvSpPr/>
          <p:nvPr/>
        </p:nvSpPr>
        <p:spPr>
          <a:xfrm>
            <a:off x="2652280" y="1313106"/>
            <a:ext cx="3325555" cy="3008373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494D3-BCEB-28FD-5A7C-4729124C6C98}"/>
              </a:ext>
            </a:extLst>
          </p:cNvPr>
          <p:cNvSpPr txBox="1"/>
          <p:nvPr/>
        </p:nvSpPr>
        <p:spPr>
          <a:xfrm>
            <a:off x="1029246" y="1836661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QM IG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8DBF94-870D-B3E3-942C-B0BA43E20DE5}"/>
              </a:ext>
            </a:extLst>
          </p:cNvPr>
          <p:cNvCxnSpPr>
            <a:cxnSpLocks/>
          </p:cNvCxnSpPr>
          <p:nvPr/>
        </p:nvCxnSpPr>
        <p:spPr>
          <a:xfrm>
            <a:off x="1998133" y="2085573"/>
            <a:ext cx="612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76F5035-DC11-CE6C-3770-AAAC5BFE548A}"/>
              </a:ext>
            </a:extLst>
          </p:cNvPr>
          <p:cNvSpPr/>
          <p:nvPr/>
        </p:nvSpPr>
        <p:spPr>
          <a:xfrm>
            <a:off x="3752799" y="3955949"/>
            <a:ext cx="5397623" cy="1683415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01A6E1-5A4A-F9C7-34AD-54B576FEDC60}"/>
              </a:ext>
            </a:extLst>
          </p:cNvPr>
          <p:cNvSpPr txBox="1"/>
          <p:nvPr/>
        </p:nvSpPr>
        <p:spPr>
          <a:xfrm>
            <a:off x="9747993" y="4706758"/>
            <a:ext cx="1351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DEQM IG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1D8341-17B5-7FDF-7970-F7E42EDAF678}"/>
              </a:ext>
            </a:extLst>
          </p:cNvPr>
          <p:cNvCxnSpPr>
            <a:cxnSpLocks/>
          </p:cNvCxnSpPr>
          <p:nvPr/>
        </p:nvCxnSpPr>
        <p:spPr>
          <a:xfrm flipH="1">
            <a:off x="9225620" y="4972551"/>
            <a:ext cx="5821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5BA84D2-B2CE-9B9D-F470-3371C8BAF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3032"/>
            <a:ext cx="1128965" cy="211681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95AA1FB7-85AB-6855-7278-70480AE68DB4}"/>
              </a:ext>
            </a:extLst>
          </p:cNvPr>
          <p:cNvSpPr/>
          <p:nvPr/>
        </p:nvSpPr>
        <p:spPr>
          <a:xfrm rot="5400000">
            <a:off x="5651536" y="1557074"/>
            <a:ext cx="181814" cy="7680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3555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628E-8C1B-B0F5-025E-CE2EAF14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Reporting, no supporting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3576AC-EB06-EA3B-0F01-40250E5FD773}"/>
              </a:ext>
            </a:extLst>
          </p:cNvPr>
          <p:cNvSpPr/>
          <p:nvPr/>
        </p:nvSpPr>
        <p:spPr>
          <a:xfrm>
            <a:off x="2553548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Clinical Data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10B82-6CCF-91E5-5AF9-8196AE54A992}"/>
              </a:ext>
            </a:extLst>
          </p:cNvPr>
          <p:cNvSpPr/>
          <p:nvPr/>
        </p:nvSpPr>
        <p:spPr>
          <a:xfrm>
            <a:off x="4986867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 Evaluation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CE74F-D3B8-6E48-1DA9-A1779E9D948B}"/>
              </a:ext>
            </a:extLst>
          </p:cNvPr>
          <p:cNvSpPr/>
          <p:nvPr/>
        </p:nvSpPr>
        <p:spPr>
          <a:xfrm>
            <a:off x="7420187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Receiving System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C5FD330-95FC-79E7-A1E3-119485D06ACA}"/>
              </a:ext>
            </a:extLst>
          </p:cNvPr>
          <p:cNvSpPr/>
          <p:nvPr/>
        </p:nvSpPr>
        <p:spPr>
          <a:xfrm rot="10800000">
            <a:off x="4112260" y="2641599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2F3829E-702D-14B7-51DD-54D367C8E039}"/>
              </a:ext>
            </a:extLst>
          </p:cNvPr>
          <p:cNvSpPr/>
          <p:nvPr/>
        </p:nvSpPr>
        <p:spPr>
          <a:xfrm>
            <a:off x="4112260" y="2905779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6EA04C-8293-4455-9787-DEF164FDFBDA}"/>
              </a:ext>
            </a:extLst>
          </p:cNvPr>
          <p:cNvSpPr/>
          <p:nvPr/>
        </p:nvSpPr>
        <p:spPr>
          <a:xfrm>
            <a:off x="6546426" y="2760172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33C6C887-23C2-E0DD-6522-219EED8FB95D}"/>
              </a:ext>
            </a:extLst>
          </p:cNvPr>
          <p:cNvSpPr/>
          <p:nvPr/>
        </p:nvSpPr>
        <p:spPr>
          <a:xfrm>
            <a:off x="6756345" y="3137194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B2B37CA2-8696-7912-B43F-B1A3DE903F4A}"/>
              </a:ext>
            </a:extLst>
          </p:cNvPr>
          <p:cNvSpPr/>
          <p:nvPr/>
        </p:nvSpPr>
        <p:spPr>
          <a:xfrm>
            <a:off x="4140936" y="316995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BC7275AA-B386-A0BA-5BE8-3E2330CE5B89}"/>
              </a:ext>
            </a:extLst>
          </p:cNvPr>
          <p:cNvSpPr/>
          <p:nvPr/>
        </p:nvSpPr>
        <p:spPr>
          <a:xfrm>
            <a:off x="4255803" y="3289594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5F3F4FCB-4735-C441-A138-01D1E717855F}"/>
              </a:ext>
            </a:extLst>
          </p:cNvPr>
          <p:cNvSpPr/>
          <p:nvPr/>
        </p:nvSpPr>
        <p:spPr>
          <a:xfrm>
            <a:off x="4395753" y="340922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79510110-3B38-BDDB-2BCC-12F0517F3804}"/>
              </a:ext>
            </a:extLst>
          </p:cNvPr>
          <p:cNvSpPr/>
          <p:nvPr/>
        </p:nvSpPr>
        <p:spPr>
          <a:xfrm>
            <a:off x="4526225" y="3547002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D500FB-FF33-119E-A913-3DC22B47D254}"/>
              </a:ext>
            </a:extLst>
          </p:cNvPr>
          <p:cNvSpPr txBox="1"/>
          <p:nvPr/>
        </p:nvSpPr>
        <p:spPr>
          <a:xfrm>
            <a:off x="3729286" y="3973763"/>
            <a:ext cx="178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FHIR API queries to retrieve patient Bundles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F45A91-64C8-FF7F-9680-FF154C5FB5C9}"/>
              </a:ext>
            </a:extLst>
          </p:cNvPr>
          <p:cNvSpPr txBox="1"/>
          <p:nvPr/>
        </p:nvSpPr>
        <p:spPr>
          <a:xfrm>
            <a:off x="6047739" y="3973763"/>
            <a:ext cx="178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POST calculated MeasureReport</a:t>
            </a:r>
          </a:p>
        </p:txBody>
      </p:sp>
    </p:spTree>
    <p:extLst>
      <p:ext uri="{BB962C8B-B14F-4D97-AF65-F5344CB8AC3E}">
        <p14:creationId xmlns:p14="http://schemas.microsoft.com/office/powerpoint/2010/main" val="101862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994BF-4C10-415A-D6CF-C1BCB505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D8B0-7B6A-E14D-9F36-D9E6A911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Reporting, supporting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10520-E26A-762D-CBEF-1EA3B822B638}"/>
              </a:ext>
            </a:extLst>
          </p:cNvPr>
          <p:cNvSpPr/>
          <p:nvPr/>
        </p:nvSpPr>
        <p:spPr>
          <a:xfrm>
            <a:off x="2553548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Clinical Data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BEFC9-8EF4-8ED5-C84E-C9AA97B57572}"/>
              </a:ext>
            </a:extLst>
          </p:cNvPr>
          <p:cNvSpPr/>
          <p:nvPr/>
        </p:nvSpPr>
        <p:spPr>
          <a:xfrm>
            <a:off x="4986867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 Evaluation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30B35-9235-C6CB-A4C2-2E28DB1EB837}"/>
              </a:ext>
            </a:extLst>
          </p:cNvPr>
          <p:cNvSpPr/>
          <p:nvPr/>
        </p:nvSpPr>
        <p:spPr>
          <a:xfrm>
            <a:off x="7420187" y="2472276"/>
            <a:ext cx="1469813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Receiving System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978EBB4-CDA8-71A1-4708-30B48692BC02}"/>
              </a:ext>
            </a:extLst>
          </p:cNvPr>
          <p:cNvSpPr/>
          <p:nvPr/>
        </p:nvSpPr>
        <p:spPr>
          <a:xfrm rot="10800000">
            <a:off x="4112260" y="2641599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6E8AE56-0A08-B198-32D7-F2D44F5C7300}"/>
              </a:ext>
            </a:extLst>
          </p:cNvPr>
          <p:cNvSpPr/>
          <p:nvPr/>
        </p:nvSpPr>
        <p:spPr>
          <a:xfrm>
            <a:off x="4112260" y="2905779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C3C24A2-B256-9FE0-A406-34EF28438ED8}"/>
              </a:ext>
            </a:extLst>
          </p:cNvPr>
          <p:cNvSpPr/>
          <p:nvPr/>
        </p:nvSpPr>
        <p:spPr>
          <a:xfrm>
            <a:off x="6546426" y="2760172"/>
            <a:ext cx="785707" cy="2099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427E116D-58C8-94C2-426F-F3CC85CD4DBD}"/>
              </a:ext>
            </a:extLst>
          </p:cNvPr>
          <p:cNvSpPr/>
          <p:nvPr/>
        </p:nvSpPr>
        <p:spPr>
          <a:xfrm>
            <a:off x="4140936" y="316995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2F70CCE4-157F-0F68-176B-94E0BF60E303}"/>
              </a:ext>
            </a:extLst>
          </p:cNvPr>
          <p:cNvSpPr/>
          <p:nvPr/>
        </p:nvSpPr>
        <p:spPr>
          <a:xfrm>
            <a:off x="4255803" y="3289594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3DE2E75C-7616-A17B-A342-5B23D5A3CD7C}"/>
              </a:ext>
            </a:extLst>
          </p:cNvPr>
          <p:cNvSpPr/>
          <p:nvPr/>
        </p:nvSpPr>
        <p:spPr>
          <a:xfrm>
            <a:off x="4395753" y="340922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BBD1EFBC-A33B-0494-736C-C4377A3045B4}"/>
              </a:ext>
            </a:extLst>
          </p:cNvPr>
          <p:cNvSpPr/>
          <p:nvPr/>
        </p:nvSpPr>
        <p:spPr>
          <a:xfrm>
            <a:off x="4526225" y="3547002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C292FB-7235-8952-666F-794EFFA06A7A}"/>
              </a:ext>
            </a:extLst>
          </p:cNvPr>
          <p:cNvSpPr txBox="1"/>
          <p:nvPr/>
        </p:nvSpPr>
        <p:spPr>
          <a:xfrm>
            <a:off x="3729286" y="3973763"/>
            <a:ext cx="178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FHIR API queries to retrieve patient Bundles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D512F8-2536-9659-06AE-D329A891CF4D}"/>
              </a:ext>
            </a:extLst>
          </p:cNvPr>
          <p:cNvSpPr txBox="1"/>
          <p:nvPr/>
        </p:nvSpPr>
        <p:spPr>
          <a:xfrm>
            <a:off x="6047739" y="3973763"/>
            <a:ext cx="1781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POST patient Bundles with calculated MeasureReport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3CF29F3-E363-78FA-2A22-3E0B6A3C9736}"/>
              </a:ext>
            </a:extLst>
          </p:cNvPr>
          <p:cNvSpPr/>
          <p:nvPr/>
        </p:nvSpPr>
        <p:spPr>
          <a:xfrm>
            <a:off x="6574257" y="316995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4341624B-6EC2-CFC5-DF6A-B1E9D858BAFF}"/>
              </a:ext>
            </a:extLst>
          </p:cNvPr>
          <p:cNvSpPr/>
          <p:nvPr/>
        </p:nvSpPr>
        <p:spPr>
          <a:xfrm>
            <a:off x="6689124" y="3289594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FF45BCDC-B507-A386-CEE8-23585B1EB683}"/>
              </a:ext>
            </a:extLst>
          </p:cNvPr>
          <p:cNvSpPr/>
          <p:nvPr/>
        </p:nvSpPr>
        <p:spPr>
          <a:xfrm>
            <a:off x="6829074" y="3409229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85C0A25A-8AB4-4001-671E-6CAF645DAFC4}"/>
              </a:ext>
            </a:extLst>
          </p:cNvPr>
          <p:cNvSpPr/>
          <p:nvPr/>
        </p:nvSpPr>
        <p:spPr>
          <a:xfrm>
            <a:off x="6959546" y="3547002"/>
            <a:ext cx="364177" cy="377043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2630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80DF-597C-EF7D-30B1-C0DC7BCF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FHIR Quality Reporting with DEQM</a:t>
            </a:r>
          </a:p>
        </p:txBody>
      </p:sp>
      <p:pic>
        <p:nvPicPr>
          <p:cNvPr id="1026" name="Picture 2" descr="Hospital buildings - Free medical icons">
            <a:extLst>
              <a:ext uri="{FF2B5EF4-FFF2-40B4-BE49-F238E27FC236}">
                <a16:creationId xmlns:a16="http://schemas.microsoft.com/office/drawing/2014/main" id="{269F61C5-6D11-B27C-C21F-A928A269B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29777" y="2934990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inic Icons - Free SVG &amp; PNG Clinic Images - Noun Project">
            <a:extLst>
              <a:ext uri="{FF2B5EF4-FFF2-40B4-BE49-F238E27FC236}">
                <a16:creationId xmlns:a16="http://schemas.microsoft.com/office/drawing/2014/main" id="{56E961AB-DCDD-9715-DD99-3FE143A10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777" y="3706272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nthly Report Icons - Free SVG &amp; PNG Monthly Report Images ...">
            <a:extLst>
              <a:ext uri="{FF2B5EF4-FFF2-40B4-BE49-F238E27FC236}">
                <a16:creationId xmlns:a16="http://schemas.microsoft.com/office/drawing/2014/main" id="{65609946-5E06-679B-96CA-363B8E54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960" y="3493546"/>
            <a:ext cx="418204" cy="41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ngine Gears Icon SVG Vector &amp; PNG Free Download | UXWing">
            <a:extLst>
              <a:ext uri="{FF2B5EF4-FFF2-40B4-BE49-F238E27FC236}">
                <a16:creationId xmlns:a16="http://schemas.microsoft.com/office/drawing/2014/main" id="{A5AEA72A-1709-4180-57A4-03FBC3838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60" y="3172347"/>
            <a:ext cx="771282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ealth Insurance Icon SVG Vector &amp; PNG Free Download | UXWing">
            <a:extLst>
              <a:ext uri="{FF2B5EF4-FFF2-40B4-BE49-F238E27FC236}">
                <a16:creationId xmlns:a16="http://schemas.microsoft.com/office/drawing/2014/main" id="{13194239-0D3C-400E-A359-107425B01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03" y="3269456"/>
            <a:ext cx="788653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ocuments symbol - Free interface icons">
            <a:extLst>
              <a:ext uri="{FF2B5EF4-FFF2-40B4-BE49-F238E27FC236}">
                <a16:creationId xmlns:a16="http://schemas.microsoft.com/office/drawing/2014/main" id="{DB61FA4D-4512-17AA-62DF-4220D00C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197" y="3493546"/>
            <a:ext cx="418204" cy="41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base Icons - Free SVG &amp; PNG Database Images - Noun Project">
            <a:extLst>
              <a:ext uri="{FF2B5EF4-FFF2-40B4-BE49-F238E27FC236}">
                <a16:creationId xmlns:a16="http://schemas.microsoft.com/office/drawing/2014/main" id="{E12BBF33-B1B8-B7B2-9783-FD6C34B3D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18" y="3429000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7515F1-1129-1ADC-A4BC-259F8560C23C}"/>
              </a:ext>
            </a:extLst>
          </p:cNvPr>
          <p:cNvSpPr txBox="1"/>
          <p:nvPr/>
        </p:nvSpPr>
        <p:spPr>
          <a:xfrm>
            <a:off x="2885786" y="2375177"/>
            <a:ext cx="10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F995D-BDBF-6411-EA31-333F3E96E09A}"/>
              </a:ext>
            </a:extLst>
          </p:cNvPr>
          <p:cNvSpPr txBox="1"/>
          <p:nvPr/>
        </p:nvSpPr>
        <p:spPr>
          <a:xfrm>
            <a:off x="5059901" y="2236677"/>
            <a:ext cx="130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Reporting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FED4-AA87-80D2-D0B5-60759810E2D6}"/>
              </a:ext>
            </a:extLst>
          </p:cNvPr>
          <p:cNvSpPr txBox="1"/>
          <p:nvPr/>
        </p:nvSpPr>
        <p:spPr>
          <a:xfrm>
            <a:off x="8015870" y="2375177"/>
            <a:ext cx="767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Payer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756E120-56B6-5A74-A934-057F7421F6A4}"/>
              </a:ext>
            </a:extLst>
          </p:cNvPr>
          <p:cNvSpPr/>
          <p:nvPr/>
        </p:nvSpPr>
        <p:spPr>
          <a:xfrm rot="16200000">
            <a:off x="4408212" y="3690240"/>
            <a:ext cx="397372" cy="2382955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2E8F97F-BE9E-2C99-4CA3-06CA3A0F3CAE}"/>
              </a:ext>
            </a:extLst>
          </p:cNvPr>
          <p:cNvSpPr/>
          <p:nvPr/>
        </p:nvSpPr>
        <p:spPr>
          <a:xfrm rot="16200000">
            <a:off x="6954105" y="3634877"/>
            <a:ext cx="397372" cy="2493679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859C0-27AC-BE2E-2C7B-5DDE9D621C7A}"/>
              </a:ext>
            </a:extLst>
          </p:cNvPr>
          <p:cNvSpPr txBox="1"/>
          <p:nvPr/>
        </p:nvSpPr>
        <p:spPr>
          <a:xfrm>
            <a:off x="4011576" y="5193821"/>
            <a:ext cx="119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Exchange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628AC-FAFA-BC52-ED77-64753504FED7}"/>
              </a:ext>
            </a:extLst>
          </p:cNvPr>
          <p:cNvSpPr txBox="1"/>
          <p:nvPr/>
        </p:nvSpPr>
        <p:spPr>
          <a:xfrm>
            <a:off x="6543373" y="519382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263320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F0F2C-A5BD-41B4-D160-957F6A54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BD21-B8C8-46C1-6580-58522FC9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1E6B3-94A1-A2EB-CE8E-6546B3438F4E}"/>
              </a:ext>
            </a:extLst>
          </p:cNvPr>
          <p:cNvSpPr txBox="1"/>
          <p:nvPr/>
        </p:nvSpPr>
        <p:spPr>
          <a:xfrm>
            <a:off x="2770243" y="2375177"/>
            <a:ext cx="129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Everything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6DD59-D28F-106C-4255-40AD6844ECED}"/>
              </a:ext>
            </a:extLst>
          </p:cNvPr>
          <p:cNvSpPr txBox="1"/>
          <p:nvPr/>
        </p:nvSpPr>
        <p:spPr>
          <a:xfrm>
            <a:off x="5059901" y="2098178"/>
            <a:ext cx="1483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Program- or contract-specific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E8C8A-B3B2-421F-52CC-BB79B7248D85}"/>
              </a:ext>
            </a:extLst>
          </p:cNvPr>
          <p:cNvSpPr txBox="1"/>
          <p:nvPr/>
        </p:nvSpPr>
        <p:spPr>
          <a:xfrm>
            <a:off x="7542677" y="2236677"/>
            <a:ext cx="1483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Measure-specific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3AB74CC-1116-541C-FC7C-7CCBFCA1835C}"/>
              </a:ext>
            </a:extLst>
          </p:cNvPr>
          <p:cNvSpPr/>
          <p:nvPr/>
        </p:nvSpPr>
        <p:spPr>
          <a:xfrm rot="16200000">
            <a:off x="5650720" y="2447733"/>
            <a:ext cx="397372" cy="4867970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7CE10-02F1-FDCE-8547-C1340A69242B}"/>
              </a:ext>
            </a:extLst>
          </p:cNvPr>
          <p:cNvSpPr txBox="1"/>
          <p:nvPr/>
        </p:nvSpPr>
        <p:spPr>
          <a:xfrm>
            <a:off x="4963495" y="510471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Scope Continuum</a:t>
            </a:r>
          </a:p>
        </p:txBody>
      </p:sp>
      <p:pic>
        <p:nvPicPr>
          <p:cNvPr id="2050" name="Picture 2" descr="Measure - Free edit tools icons">
            <a:extLst>
              <a:ext uri="{FF2B5EF4-FFF2-40B4-BE49-F238E27FC236}">
                <a16:creationId xmlns:a16="http://schemas.microsoft.com/office/drawing/2014/main" id="{D7F4F606-6A9D-2FC1-DA12-2A57F949B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47597" y="3265832"/>
            <a:ext cx="873632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tract Icon SVG Vector &amp; PNG Free Download | UXWing">
            <a:extLst>
              <a:ext uri="{FF2B5EF4-FFF2-40B4-BE49-F238E27FC236}">
                <a16:creationId xmlns:a16="http://schemas.microsoft.com/office/drawing/2014/main" id="{0204EBE1-158A-1D1B-E702-3D0CC103A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39" y="3265832"/>
            <a:ext cx="771281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itchen Sink Icons - Free SVG &amp; PNG Kitchen Sink Images - Noun Project">
            <a:extLst>
              <a:ext uri="{FF2B5EF4-FFF2-40B4-BE49-F238E27FC236}">
                <a16:creationId xmlns:a16="http://schemas.microsoft.com/office/drawing/2014/main" id="{2E9F5BCF-C572-B18F-E88B-36C85D1E0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556" y="3208010"/>
            <a:ext cx="963728" cy="96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98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8581-D61C-6157-B4F7-DCC97980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282B-6F1E-76B4-5134-6FBECD4E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Scenarios</a:t>
            </a:r>
          </a:p>
        </p:txBody>
      </p:sp>
      <p:pic>
        <p:nvPicPr>
          <p:cNvPr id="1026" name="Picture 2" descr="Hospital buildings - Free medical icons">
            <a:extLst>
              <a:ext uri="{FF2B5EF4-FFF2-40B4-BE49-F238E27FC236}">
                <a16:creationId xmlns:a16="http://schemas.microsoft.com/office/drawing/2014/main" id="{48E531DA-1D7D-B81B-112E-614B2410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29777" y="2934990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inic Icons - Free SVG &amp; PNG Clinic Images - Noun Project">
            <a:extLst>
              <a:ext uri="{FF2B5EF4-FFF2-40B4-BE49-F238E27FC236}">
                <a16:creationId xmlns:a16="http://schemas.microsoft.com/office/drawing/2014/main" id="{7E8EB0E6-F24A-DD41-2C2E-84D4E4E1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777" y="3706272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ngine Gears Icon SVG Vector &amp; PNG Free Download | UXWing">
            <a:extLst>
              <a:ext uri="{FF2B5EF4-FFF2-40B4-BE49-F238E27FC236}">
                <a16:creationId xmlns:a16="http://schemas.microsoft.com/office/drawing/2014/main" id="{2D4A0E15-17CB-C115-6410-C7858E14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60" y="3172347"/>
            <a:ext cx="771282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ocuments symbol - Free interface icons">
            <a:extLst>
              <a:ext uri="{FF2B5EF4-FFF2-40B4-BE49-F238E27FC236}">
                <a16:creationId xmlns:a16="http://schemas.microsoft.com/office/drawing/2014/main" id="{C39B551F-663C-47DB-D0C4-043A91F03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197" y="3493546"/>
            <a:ext cx="418204" cy="41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base Icons - Free SVG &amp; PNG Database Images - Noun Project">
            <a:extLst>
              <a:ext uri="{FF2B5EF4-FFF2-40B4-BE49-F238E27FC236}">
                <a16:creationId xmlns:a16="http://schemas.microsoft.com/office/drawing/2014/main" id="{1211FF00-CF7D-5E84-013A-F5AD046C6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18" y="3429000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8ACC95-A401-E668-12B1-1C7974A3C764}"/>
              </a:ext>
            </a:extLst>
          </p:cNvPr>
          <p:cNvSpPr txBox="1"/>
          <p:nvPr/>
        </p:nvSpPr>
        <p:spPr>
          <a:xfrm>
            <a:off x="2885786" y="2375177"/>
            <a:ext cx="10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0C80-6D41-9930-9883-7B2729D45804}"/>
              </a:ext>
            </a:extLst>
          </p:cNvPr>
          <p:cNvSpPr txBox="1"/>
          <p:nvPr/>
        </p:nvSpPr>
        <p:spPr>
          <a:xfrm>
            <a:off x="5059901" y="2236677"/>
            <a:ext cx="130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Reporting System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97BDB8B-84BE-C44D-DB7D-8C8C5D620BEF}"/>
              </a:ext>
            </a:extLst>
          </p:cNvPr>
          <p:cNvSpPr/>
          <p:nvPr/>
        </p:nvSpPr>
        <p:spPr>
          <a:xfrm rot="16200000">
            <a:off x="4408212" y="3690240"/>
            <a:ext cx="397372" cy="2382955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07268-647A-FB39-9CF8-E7C7D5B1D545}"/>
              </a:ext>
            </a:extLst>
          </p:cNvPr>
          <p:cNvSpPr txBox="1"/>
          <p:nvPr/>
        </p:nvSpPr>
        <p:spPr>
          <a:xfrm>
            <a:off x="4011576" y="5193821"/>
            <a:ext cx="119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Exchange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CE161D-EFB5-4D38-FC5C-E841E8F00892}"/>
              </a:ext>
            </a:extLst>
          </p:cNvPr>
          <p:cNvSpPr txBox="1">
            <a:spLocks/>
          </p:cNvSpPr>
          <p:nvPr/>
        </p:nvSpPr>
        <p:spPr>
          <a:xfrm>
            <a:off x="6989779" y="3285949"/>
            <a:ext cx="4364021" cy="10573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Push (Submit), or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Pull (Collect)</a:t>
            </a:r>
          </a:p>
        </p:txBody>
      </p:sp>
    </p:spTree>
    <p:extLst>
      <p:ext uri="{BB962C8B-B14F-4D97-AF65-F5344CB8AC3E}">
        <p14:creationId xmlns:p14="http://schemas.microsoft.com/office/powerpoint/2010/main" val="424966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A2D4-7F98-F545-240B-E68DB70C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C4A7-1981-FED3-6564-B71D954F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Scenarios</a:t>
            </a:r>
          </a:p>
        </p:txBody>
      </p:sp>
      <p:pic>
        <p:nvPicPr>
          <p:cNvPr id="1032" name="Picture 8" descr="Monthly Report Icons - Free SVG &amp; PNG Monthly Report Images ...">
            <a:extLst>
              <a:ext uri="{FF2B5EF4-FFF2-40B4-BE49-F238E27FC236}">
                <a16:creationId xmlns:a16="http://schemas.microsoft.com/office/drawing/2014/main" id="{D6A2B16B-6EAC-8022-F09C-BD8A6BE04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960" y="3493546"/>
            <a:ext cx="418204" cy="41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ngine Gears Icon SVG Vector &amp; PNG Free Download | UXWing">
            <a:extLst>
              <a:ext uri="{FF2B5EF4-FFF2-40B4-BE49-F238E27FC236}">
                <a16:creationId xmlns:a16="http://schemas.microsoft.com/office/drawing/2014/main" id="{936F6A86-F3A0-9BE6-693D-CFB13909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60" y="3172347"/>
            <a:ext cx="771282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ealth Insurance Icon SVG Vector &amp; PNG Free Download | UXWing">
            <a:extLst>
              <a:ext uri="{FF2B5EF4-FFF2-40B4-BE49-F238E27FC236}">
                <a16:creationId xmlns:a16="http://schemas.microsoft.com/office/drawing/2014/main" id="{81723617-9649-E782-C566-F5093A044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03" y="3269456"/>
            <a:ext cx="788653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atabase Icons - Free SVG &amp; PNG Database Images - Noun Project">
            <a:extLst>
              <a:ext uri="{FF2B5EF4-FFF2-40B4-BE49-F238E27FC236}">
                <a16:creationId xmlns:a16="http://schemas.microsoft.com/office/drawing/2014/main" id="{5E4C4443-245C-2CDD-C0BD-31818C089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18" y="3429000"/>
            <a:ext cx="771282" cy="77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BA59FC-7B7A-317D-B923-946A999840C5}"/>
              </a:ext>
            </a:extLst>
          </p:cNvPr>
          <p:cNvSpPr txBox="1"/>
          <p:nvPr/>
        </p:nvSpPr>
        <p:spPr>
          <a:xfrm>
            <a:off x="5059901" y="2236677"/>
            <a:ext cx="130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Reporting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93F34-B8EB-1821-9761-A0E44E19F8E8}"/>
              </a:ext>
            </a:extLst>
          </p:cNvPr>
          <p:cNvSpPr txBox="1"/>
          <p:nvPr/>
        </p:nvSpPr>
        <p:spPr>
          <a:xfrm>
            <a:off x="8015870" y="2375177"/>
            <a:ext cx="767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Payer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6DDA5E0-1980-B6EB-28E1-8BB3C7D5F93D}"/>
              </a:ext>
            </a:extLst>
          </p:cNvPr>
          <p:cNvSpPr/>
          <p:nvPr/>
        </p:nvSpPr>
        <p:spPr>
          <a:xfrm rot="16200000">
            <a:off x="6954105" y="3634877"/>
            <a:ext cx="397372" cy="2493679"/>
          </a:xfrm>
          <a:prstGeom prst="leftBrace">
            <a:avLst>
              <a:gd name="adj1" fmla="val 57063"/>
              <a:gd name="adj2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399F2-C254-6FF7-F961-4C7EE68D5079}"/>
              </a:ext>
            </a:extLst>
          </p:cNvPr>
          <p:cNvSpPr txBox="1"/>
          <p:nvPr/>
        </p:nvSpPr>
        <p:spPr>
          <a:xfrm>
            <a:off x="6543373" y="5193821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6A15E-A599-2FE6-5F3A-52121833C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765383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Summary</a:t>
            </a:r>
          </a:p>
          <a:p>
            <a:pPr marL="971550" lvl="1" indent="-514350">
              <a:buAutoNum type="arabicPeriod"/>
            </a:pPr>
            <a:r>
              <a:rPr lang="en-US" dirty="0"/>
              <a:t>e.g. EC/EP</a:t>
            </a:r>
          </a:p>
          <a:p>
            <a:pPr marL="971550" lvl="1" indent="-514350">
              <a:buAutoNum type="arabicPeriod"/>
            </a:pPr>
            <a:r>
              <a:rPr lang="en-US" dirty="0"/>
              <a:t>Population-level reporting without supporting data</a:t>
            </a:r>
          </a:p>
          <a:p>
            <a:pPr marL="514350" indent="-514350">
              <a:buAutoNum type="arabicPeriod"/>
            </a:pPr>
            <a:r>
              <a:rPr lang="en-US" dirty="0"/>
              <a:t>Individual</a:t>
            </a:r>
          </a:p>
          <a:p>
            <a:pPr marL="971550" lvl="1" indent="-514350">
              <a:buAutoNum type="arabicPeriod"/>
            </a:pPr>
            <a:r>
              <a:rPr lang="en-US" dirty="0"/>
              <a:t>e.g. EH</a:t>
            </a:r>
          </a:p>
          <a:p>
            <a:pPr marL="971550" lvl="1" indent="-514350">
              <a:buAutoNum type="arabicPeriod"/>
            </a:pPr>
            <a:r>
              <a:rPr lang="en-US" dirty="0"/>
              <a:t>Population-level reporting with supporting data</a:t>
            </a:r>
          </a:p>
        </p:txBody>
      </p:sp>
    </p:spTree>
    <p:extLst>
      <p:ext uri="{BB962C8B-B14F-4D97-AF65-F5344CB8AC3E}">
        <p14:creationId xmlns:p14="http://schemas.microsoft.com/office/powerpoint/2010/main" val="81893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E8987-9423-5E81-D69B-660B6A11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738B-81D1-0AA1-C935-6F94EB42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Payer/Provider Reporting – Setup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05720-2530-5D98-2911-7D4EE9D9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C19A899-8540-4511-1FF8-99A35D3935A2}"/>
              </a:ext>
            </a:extLst>
          </p:cNvPr>
          <p:cNvGrpSpPr/>
          <p:nvPr/>
        </p:nvGrpSpPr>
        <p:grpSpPr>
          <a:xfrm>
            <a:off x="9895276" y="3878241"/>
            <a:ext cx="1156925" cy="1027936"/>
            <a:chOff x="7183635" y="2698018"/>
            <a:chExt cx="867694" cy="770952"/>
          </a:xfrm>
        </p:grpSpPr>
        <p:pic>
          <p:nvPicPr>
            <p:cNvPr id="49" name="Picture 10" descr="Engine Gears Icon SVG Vector &amp; PNG Free Download | UXWing">
              <a:extLst>
                <a:ext uri="{FF2B5EF4-FFF2-40B4-BE49-F238E27FC236}">
                  <a16:creationId xmlns:a16="http://schemas.microsoft.com/office/drawing/2014/main" id="{C6D884FA-4558-D8D1-BC28-0CEF539196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2867" y="2698018"/>
              <a:ext cx="578462" cy="655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8" descr="Database Icons - Free SVG &amp; PNG Database Images - Noun Project">
              <a:extLst>
                <a:ext uri="{FF2B5EF4-FFF2-40B4-BE49-F238E27FC236}">
                  <a16:creationId xmlns:a16="http://schemas.microsoft.com/office/drawing/2014/main" id="{183D7FE1-F99C-A19F-54EB-6D7173E958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3635" y="2890508"/>
              <a:ext cx="578462" cy="57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3C0C3A7-3B6B-7ABD-C071-A6A3F81588B0}"/>
              </a:ext>
            </a:extLst>
          </p:cNvPr>
          <p:cNvSpPr txBox="1"/>
          <p:nvPr/>
        </p:nvSpPr>
        <p:spPr>
          <a:xfrm>
            <a:off x="9630460" y="3068191"/>
            <a:ext cx="1300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Reporting System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2B8A56-A7DB-20D6-FB81-8D18DAC9A808}"/>
              </a:ext>
            </a:extLst>
          </p:cNvPr>
          <p:cNvGrpSpPr/>
          <p:nvPr/>
        </p:nvGrpSpPr>
        <p:grpSpPr>
          <a:xfrm>
            <a:off x="972086" y="3848158"/>
            <a:ext cx="751185" cy="1088105"/>
            <a:chOff x="1505690" y="1527538"/>
            <a:chExt cx="563389" cy="816079"/>
          </a:xfrm>
        </p:grpSpPr>
        <p:pic>
          <p:nvPicPr>
            <p:cNvPr id="7" name="Picture 6" descr="Download Free Authority Icons - SVG and PNG formats">
              <a:extLst>
                <a:ext uri="{FF2B5EF4-FFF2-40B4-BE49-F238E27FC236}">
                  <a16:creationId xmlns:a16="http://schemas.microsoft.com/office/drawing/2014/main" id="{B8302B51-ADE7-B8C2-EE23-6721D0940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97235" y="1979603"/>
              <a:ext cx="271844" cy="271844"/>
            </a:xfrm>
            <a:prstGeom prst="rect">
              <a:avLst/>
            </a:prstGeom>
          </p:spPr>
        </p:pic>
        <p:pic>
          <p:nvPicPr>
            <p:cNvPr id="8" name="Picture 7" descr="Governance - Free buildings icons">
              <a:extLst>
                <a:ext uri="{FF2B5EF4-FFF2-40B4-BE49-F238E27FC236}">
                  <a16:creationId xmlns:a16="http://schemas.microsoft.com/office/drawing/2014/main" id="{23C72685-E7B6-03AC-CC60-97C25B7BF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1078" y="1527538"/>
              <a:ext cx="503071" cy="503071"/>
            </a:xfrm>
            <a:prstGeom prst="rect">
              <a:avLst/>
            </a:prstGeom>
          </p:spPr>
        </p:pic>
        <p:pic>
          <p:nvPicPr>
            <p:cNvPr id="9" name="Picture 8" descr="measure Icon - Free PNG &amp; SVG 290695 - Noun Project">
              <a:extLst>
                <a:ext uri="{FF2B5EF4-FFF2-40B4-BE49-F238E27FC236}">
                  <a16:creationId xmlns:a16="http://schemas.microsoft.com/office/drawing/2014/main" id="{A0542AB3-286E-5A56-68A2-3983432CB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5690" y="1982071"/>
              <a:ext cx="361546" cy="36154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B0F79A-9AF4-1FE2-376E-25EC32B2A3C2}"/>
              </a:ext>
            </a:extLst>
          </p:cNvPr>
          <p:cNvSpPr txBox="1"/>
          <p:nvPr/>
        </p:nvSpPr>
        <p:spPr>
          <a:xfrm>
            <a:off x="702892" y="3024084"/>
            <a:ext cx="1315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 Authority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43897-7350-60D7-D11F-0AFEEB8CB8D2}"/>
              </a:ext>
            </a:extLst>
          </p:cNvPr>
          <p:cNvSpPr txBox="1"/>
          <p:nvPr/>
        </p:nvSpPr>
        <p:spPr>
          <a:xfrm>
            <a:off x="884121" y="2200011"/>
            <a:ext cx="1315841" cy="523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dirty="0"/>
              <a:t>Measure Authority shares </a:t>
            </a:r>
            <a:r>
              <a:rPr lang="en-US" sz="933" b="1" dirty="0"/>
              <a:t>Measure Specifications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59C579-7872-96AF-F4BE-7406E61ADD99}"/>
              </a:ext>
            </a:extLst>
          </p:cNvPr>
          <p:cNvSpPr/>
          <p:nvPr/>
        </p:nvSpPr>
        <p:spPr>
          <a:xfrm>
            <a:off x="707553" y="2364478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1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C5A5F67-5DC7-6D26-677D-098E2D130934}"/>
              </a:ext>
            </a:extLst>
          </p:cNvPr>
          <p:cNvGrpSpPr/>
          <p:nvPr/>
        </p:nvGrpSpPr>
        <p:grpSpPr>
          <a:xfrm>
            <a:off x="5312419" y="3620927"/>
            <a:ext cx="771283" cy="1542565"/>
            <a:chOff x="3458848" y="2412749"/>
            <a:chExt cx="578462" cy="1156924"/>
          </a:xfrm>
        </p:grpSpPr>
        <p:pic>
          <p:nvPicPr>
            <p:cNvPr id="17" name="Picture 2" descr="Hospital buildings - Free medical icons">
              <a:extLst>
                <a:ext uri="{FF2B5EF4-FFF2-40B4-BE49-F238E27FC236}">
                  <a16:creationId xmlns:a16="http://schemas.microsoft.com/office/drawing/2014/main" id="{2D1FB4C5-6BBE-C4EB-2DF1-BA0F27675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58848" y="2412749"/>
              <a:ext cx="578462" cy="57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Clinic Icons - Free SVG &amp; PNG Clinic Images - Noun Project">
              <a:extLst>
                <a:ext uri="{FF2B5EF4-FFF2-40B4-BE49-F238E27FC236}">
                  <a16:creationId xmlns:a16="http://schemas.microsoft.com/office/drawing/2014/main" id="{A906E425-6C6A-DD9A-EDEA-659CA0D44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8848" y="2991211"/>
              <a:ext cx="578462" cy="57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1EDAD6-241B-A9F8-D763-296E71695BAB}"/>
              </a:ext>
            </a:extLst>
          </p:cNvPr>
          <p:cNvSpPr txBox="1"/>
          <p:nvPr/>
        </p:nvSpPr>
        <p:spPr>
          <a:xfrm>
            <a:off x="5288877" y="3126720"/>
            <a:ext cx="8183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Provider</a:t>
            </a:r>
          </a:p>
        </p:txBody>
      </p:sp>
      <p:pic>
        <p:nvPicPr>
          <p:cNvPr id="23" name="Picture 14" descr="Health Insurance Icon SVG Vector &amp; PNG Free Download | UXWing">
            <a:extLst>
              <a:ext uri="{FF2B5EF4-FFF2-40B4-BE49-F238E27FC236}">
                <a16:creationId xmlns:a16="http://schemas.microsoft.com/office/drawing/2014/main" id="{1068D165-7E8F-26DF-B354-6B8653D94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163" y="4006568"/>
            <a:ext cx="788653" cy="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66FDCC-B03C-57C8-905D-877DDAF98308}"/>
              </a:ext>
            </a:extLst>
          </p:cNvPr>
          <p:cNvSpPr txBox="1"/>
          <p:nvPr/>
        </p:nvSpPr>
        <p:spPr>
          <a:xfrm>
            <a:off x="7689952" y="3175913"/>
            <a:ext cx="599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Payer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8C2A3-85F8-4F19-3D61-56618A60F598}"/>
              </a:ext>
            </a:extLst>
          </p:cNvPr>
          <p:cNvSpPr txBox="1"/>
          <p:nvPr/>
        </p:nvSpPr>
        <p:spPr>
          <a:xfrm>
            <a:off x="2726733" y="2200011"/>
            <a:ext cx="1610225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dirty="0"/>
              <a:t>Terminology Authority shares </a:t>
            </a:r>
            <a:r>
              <a:rPr lang="en-US" sz="933" b="1" dirty="0"/>
              <a:t>Value Set Specifications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C325AD-AFF0-A2F8-D8B0-8E08B4754E1D}"/>
              </a:ext>
            </a:extLst>
          </p:cNvPr>
          <p:cNvSpPr/>
          <p:nvPr/>
        </p:nvSpPr>
        <p:spPr>
          <a:xfrm>
            <a:off x="2609767" y="2351904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2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A9DBE9-A727-800D-39AF-EB786E703344}"/>
              </a:ext>
            </a:extLst>
          </p:cNvPr>
          <p:cNvGrpSpPr/>
          <p:nvPr/>
        </p:nvGrpSpPr>
        <p:grpSpPr>
          <a:xfrm>
            <a:off x="3234733" y="3926459"/>
            <a:ext cx="566225" cy="931503"/>
            <a:chOff x="1399168" y="2648192"/>
            <a:chExt cx="424669" cy="698627"/>
          </a:xfrm>
        </p:grpSpPr>
        <p:pic>
          <p:nvPicPr>
            <p:cNvPr id="40" name="Picture 39" descr="Dictionary - Free education icons">
              <a:extLst>
                <a:ext uri="{FF2B5EF4-FFF2-40B4-BE49-F238E27FC236}">
                  <a16:creationId xmlns:a16="http://schemas.microsoft.com/office/drawing/2014/main" id="{9B8B535F-AFF7-4056-0A02-BE8F47EC3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99168" y="2648192"/>
              <a:ext cx="424669" cy="424669"/>
            </a:xfrm>
            <a:prstGeom prst="rect">
              <a:avLst/>
            </a:prstGeom>
          </p:spPr>
        </p:pic>
        <p:pic>
          <p:nvPicPr>
            <p:cNvPr id="44" name="Picture 43" descr="Download Free Authority Icons - SVG and PNG formats">
              <a:extLst>
                <a:ext uri="{FF2B5EF4-FFF2-40B4-BE49-F238E27FC236}">
                  <a16:creationId xmlns:a16="http://schemas.microsoft.com/office/drawing/2014/main" id="{668FEFFD-AC17-C702-9688-DAF0E8BBD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8393" y="3074975"/>
              <a:ext cx="271844" cy="271844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FCEC59B-F261-61FE-9643-910DF40A9216}"/>
              </a:ext>
            </a:extLst>
          </p:cNvPr>
          <p:cNvSpPr txBox="1"/>
          <p:nvPr/>
        </p:nvSpPr>
        <p:spPr>
          <a:xfrm>
            <a:off x="2859924" y="3066930"/>
            <a:ext cx="1315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Terminology Authority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DEC2F3-1A36-47DA-74FC-2F914E056967}"/>
              </a:ext>
            </a:extLst>
          </p:cNvPr>
          <p:cNvSpPr txBox="1"/>
          <p:nvPr/>
        </p:nvSpPr>
        <p:spPr>
          <a:xfrm>
            <a:off x="4988074" y="2297367"/>
            <a:ext cx="1610225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dirty="0"/>
              <a:t>Provider and Payer agree on </a:t>
            </a:r>
            <a:r>
              <a:rPr lang="en-US" sz="933" b="1" dirty="0"/>
              <a:t>Measures to use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9158CA-1F0B-066B-F077-A582EF9EC138}"/>
              </a:ext>
            </a:extLst>
          </p:cNvPr>
          <p:cNvSpPr/>
          <p:nvPr/>
        </p:nvSpPr>
        <p:spPr>
          <a:xfrm>
            <a:off x="4819385" y="2377446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963F3-B16E-E790-C3B1-074182D634E9}"/>
              </a:ext>
            </a:extLst>
          </p:cNvPr>
          <p:cNvSpPr txBox="1"/>
          <p:nvPr/>
        </p:nvSpPr>
        <p:spPr>
          <a:xfrm>
            <a:off x="7224837" y="2314309"/>
            <a:ext cx="1610225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dirty="0"/>
              <a:t>Payer determines </a:t>
            </a:r>
            <a:r>
              <a:rPr lang="en-US" sz="933" b="1" dirty="0"/>
              <a:t>attribution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6675FD5-E165-8CFE-4368-6A729BBA8318}"/>
              </a:ext>
            </a:extLst>
          </p:cNvPr>
          <p:cNvSpPr/>
          <p:nvPr/>
        </p:nvSpPr>
        <p:spPr>
          <a:xfrm>
            <a:off x="7056147" y="2394388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E0035B-576E-5E84-F506-E0A5AE4822CD}"/>
              </a:ext>
            </a:extLst>
          </p:cNvPr>
          <p:cNvSpPr txBox="1"/>
          <p:nvPr/>
        </p:nvSpPr>
        <p:spPr>
          <a:xfrm>
            <a:off x="9654868" y="2314309"/>
            <a:ext cx="1610225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dirty="0"/>
              <a:t>Reporting System </a:t>
            </a:r>
            <a:r>
              <a:rPr lang="en-US" sz="933" b="1" dirty="0"/>
              <a:t>configures measures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978A015-9469-7E77-542F-B236CA189B9D}"/>
              </a:ext>
            </a:extLst>
          </p:cNvPr>
          <p:cNvSpPr/>
          <p:nvPr/>
        </p:nvSpPr>
        <p:spPr>
          <a:xfrm>
            <a:off x="9486178" y="2394388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598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C687-1B2F-5D56-0734-B5758D2F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Payer/Provider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F1C0D-83FD-13BD-CC26-1BB9F27F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6" name="Picture 14" descr="Health Insurance Icon SVG Vector &amp; PNG Free Download | UXWing">
            <a:extLst>
              <a:ext uri="{FF2B5EF4-FFF2-40B4-BE49-F238E27FC236}">
                <a16:creationId xmlns:a16="http://schemas.microsoft.com/office/drawing/2014/main" id="{24F0DD55-C105-1BEF-14CF-17C5C46E4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920" y="3349636"/>
            <a:ext cx="788653" cy="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AE4B4C9-D65B-B44D-D383-9FEA2965C5BB}"/>
              </a:ext>
            </a:extLst>
          </p:cNvPr>
          <p:cNvSpPr txBox="1"/>
          <p:nvPr/>
        </p:nvSpPr>
        <p:spPr>
          <a:xfrm>
            <a:off x="5379709" y="2455358"/>
            <a:ext cx="599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Payer</a:t>
            </a:r>
          </a:p>
        </p:txBody>
      </p:sp>
      <p:pic>
        <p:nvPicPr>
          <p:cNvPr id="30" name="Picture 2" descr="Hospital buildings - Free medical icons">
            <a:extLst>
              <a:ext uri="{FF2B5EF4-FFF2-40B4-BE49-F238E27FC236}">
                <a16:creationId xmlns:a16="http://schemas.microsoft.com/office/drawing/2014/main" id="{FCDB7A80-848F-6D41-6B12-014781FAE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18520" y="3046924"/>
            <a:ext cx="771283" cy="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Clinic Icons - Free SVG &amp; PNG Clinic Images - Noun Project">
            <a:extLst>
              <a:ext uri="{FF2B5EF4-FFF2-40B4-BE49-F238E27FC236}">
                <a16:creationId xmlns:a16="http://schemas.microsoft.com/office/drawing/2014/main" id="{A2F1BBE3-AC70-DB55-1746-C44F77810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20" y="3818207"/>
            <a:ext cx="771283" cy="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E5ED287-90E7-B886-2B6D-408C08CACEF6}"/>
              </a:ext>
            </a:extLst>
          </p:cNvPr>
          <p:cNvSpPr txBox="1"/>
          <p:nvPr/>
        </p:nvSpPr>
        <p:spPr>
          <a:xfrm>
            <a:off x="994978" y="2487113"/>
            <a:ext cx="8183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Provider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183740-770C-E751-EBF5-44A60C3FF71F}"/>
              </a:ext>
            </a:extLst>
          </p:cNvPr>
          <p:cNvCxnSpPr/>
          <p:nvPr/>
        </p:nvCxnSpPr>
        <p:spPr>
          <a:xfrm flipH="1">
            <a:off x="1898427" y="1652317"/>
            <a:ext cx="66503" cy="38571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70AF8B-A7AA-2B44-21F5-8C100DF69688}"/>
              </a:ext>
            </a:extLst>
          </p:cNvPr>
          <p:cNvCxnSpPr/>
          <p:nvPr/>
        </p:nvCxnSpPr>
        <p:spPr>
          <a:xfrm flipH="1">
            <a:off x="4939986" y="1663998"/>
            <a:ext cx="66503" cy="38571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195326-CACE-F30F-6A1F-5C72C510581B}"/>
              </a:ext>
            </a:extLst>
          </p:cNvPr>
          <p:cNvSpPr txBox="1"/>
          <p:nvPr/>
        </p:nvSpPr>
        <p:spPr>
          <a:xfrm>
            <a:off x="2254026" y="1617599"/>
            <a:ext cx="2557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Payer shares </a:t>
            </a:r>
            <a:r>
              <a:rPr lang="en-US" sz="1200" b="1" dirty="0"/>
              <a:t>ATR Group</a:t>
            </a:r>
            <a:r>
              <a:rPr lang="en-US" sz="1200" dirty="0"/>
              <a:t> with Provider</a:t>
            </a:r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F5D0FF30-0E5A-AB1C-37E4-DA278EDD4720}"/>
              </a:ext>
            </a:extLst>
          </p:cNvPr>
          <p:cNvSpPr/>
          <p:nvPr/>
        </p:nvSpPr>
        <p:spPr>
          <a:xfrm>
            <a:off x="1981793" y="2602824"/>
            <a:ext cx="2958192" cy="11083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F14DEB-7F77-C1A5-A553-D0993841936D}"/>
              </a:ext>
            </a:extLst>
          </p:cNvPr>
          <p:cNvSpPr txBox="1"/>
          <p:nvPr/>
        </p:nvSpPr>
        <p:spPr>
          <a:xfrm>
            <a:off x="2147170" y="2301470"/>
            <a:ext cx="26682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Provider shares </a:t>
            </a:r>
            <a:r>
              <a:rPr lang="en-US" sz="1200" b="1" dirty="0"/>
              <a:t>Clinical Data</a:t>
            </a:r>
            <a:r>
              <a:rPr lang="en-US" sz="1200" dirty="0"/>
              <a:t> with Payer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159B6A-DE55-87D1-0C53-249F1178B50C}"/>
              </a:ext>
            </a:extLst>
          </p:cNvPr>
          <p:cNvSpPr txBox="1"/>
          <p:nvPr/>
        </p:nvSpPr>
        <p:spPr>
          <a:xfrm>
            <a:off x="6549109" y="2653330"/>
            <a:ext cx="2677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Payer shares </a:t>
            </a:r>
            <a:r>
              <a:rPr lang="en-US" sz="1200" b="1" dirty="0"/>
              <a:t>Clinical and Claims Data</a:t>
            </a:r>
            <a:r>
              <a:rPr lang="en-US" sz="1200" dirty="0"/>
              <a:t> with Reporting System</a:t>
            </a:r>
          </a:p>
        </p:txBody>
      </p:sp>
      <p:pic>
        <p:nvPicPr>
          <p:cNvPr id="49" name="Picture 10" descr="Engine Gears Icon SVG Vector &amp; PNG Free Download | UXWing">
            <a:extLst>
              <a:ext uri="{FF2B5EF4-FFF2-40B4-BE49-F238E27FC236}">
                <a16:creationId xmlns:a16="http://schemas.microsoft.com/office/drawing/2014/main" id="{CFA03D03-1CE9-0256-BCE9-99D73D2D4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3328" y="3422781"/>
            <a:ext cx="771283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8" descr="Database Icons - Free SVG &amp; PNG Database Images - Noun Project">
            <a:extLst>
              <a:ext uri="{FF2B5EF4-FFF2-40B4-BE49-F238E27FC236}">
                <a16:creationId xmlns:a16="http://schemas.microsoft.com/office/drawing/2014/main" id="{F0555409-43DC-15D6-62EB-0D191EA2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685" y="3679435"/>
            <a:ext cx="771283" cy="7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BA42616-0865-87AA-ACFC-101594780592}"/>
              </a:ext>
            </a:extLst>
          </p:cNvPr>
          <p:cNvSpPr txBox="1"/>
          <p:nvPr/>
        </p:nvSpPr>
        <p:spPr>
          <a:xfrm>
            <a:off x="9512869" y="2487112"/>
            <a:ext cx="1300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Reporting System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2656D1-0D17-BF1A-2B47-E4CB677A7D4E}"/>
              </a:ext>
            </a:extLst>
          </p:cNvPr>
          <p:cNvSpPr txBox="1"/>
          <p:nvPr/>
        </p:nvSpPr>
        <p:spPr>
          <a:xfrm>
            <a:off x="6544349" y="3234670"/>
            <a:ext cx="2478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Reporting system shares </a:t>
            </a:r>
            <a:r>
              <a:rPr lang="en-US" sz="1200" b="1" dirty="0"/>
              <a:t>Patient- and Population-level Results</a:t>
            </a:r>
            <a:r>
              <a:rPr lang="en-US" sz="1200" dirty="0"/>
              <a:t> with Payer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B335C3-8600-EDF8-4372-E5FF92F07C4B}"/>
              </a:ext>
            </a:extLst>
          </p:cNvPr>
          <p:cNvSpPr txBox="1"/>
          <p:nvPr/>
        </p:nvSpPr>
        <p:spPr>
          <a:xfrm>
            <a:off x="1906280" y="4015890"/>
            <a:ext cx="2930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Payer shares </a:t>
            </a:r>
            <a:r>
              <a:rPr lang="en-US" sz="1200" b="1" dirty="0"/>
              <a:t>Patient-level Results</a:t>
            </a:r>
            <a:r>
              <a:rPr lang="en-US" sz="1200" dirty="0"/>
              <a:t> with Provider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2ED3C93-96B5-1F3D-5294-FD0F79B7DBEA}"/>
              </a:ext>
            </a:extLst>
          </p:cNvPr>
          <p:cNvCxnSpPr/>
          <p:nvPr/>
        </p:nvCxnSpPr>
        <p:spPr>
          <a:xfrm flipH="1">
            <a:off x="6352007" y="1644673"/>
            <a:ext cx="66503" cy="38571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E07115-FE96-1131-BECB-11A00650A615}"/>
              </a:ext>
            </a:extLst>
          </p:cNvPr>
          <p:cNvCxnSpPr/>
          <p:nvPr/>
        </p:nvCxnSpPr>
        <p:spPr>
          <a:xfrm flipH="1">
            <a:off x="9368169" y="1632513"/>
            <a:ext cx="66503" cy="38571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" name="Arrow: Left-Right 60">
            <a:extLst>
              <a:ext uri="{FF2B5EF4-FFF2-40B4-BE49-F238E27FC236}">
                <a16:creationId xmlns:a16="http://schemas.microsoft.com/office/drawing/2014/main" id="{C5ABC705-8F7F-7612-455D-FC4D27CAFEF7}"/>
              </a:ext>
            </a:extLst>
          </p:cNvPr>
          <p:cNvSpPr/>
          <p:nvPr/>
        </p:nvSpPr>
        <p:spPr>
          <a:xfrm>
            <a:off x="2002188" y="1947802"/>
            <a:ext cx="2958192" cy="11083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3" name="Arrow: Left-Right 62">
            <a:extLst>
              <a:ext uri="{FF2B5EF4-FFF2-40B4-BE49-F238E27FC236}">
                <a16:creationId xmlns:a16="http://schemas.microsoft.com/office/drawing/2014/main" id="{F8A9A1EA-BB1A-A1F9-B424-251B63E28AD0}"/>
              </a:ext>
            </a:extLst>
          </p:cNvPr>
          <p:cNvSpPr/>
          <p:nvPr/>
        </p:nvSpPr>
        <p:spPr>
          <a:xfrm>
            <a:off x="6414243" y="3131229"/>
            <a:ext cx="2958192" cy="11083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5" name="Arrow: Left-Right 64">
            <a:extLst>
              <a:ext uri="{FF2B5EF4-FFF2-40B4-BE49-F238E27FC236}">
                <a16:creationId xmlns:a16="http://schemas.microsoft.com/office/drawing/2014/main" id="{E9A67F5F-CDE6-95BB-D26F-8C22334E398E}"/>
              </a:ext>
            </a:extLst>
          </p:cNvPr>
          <p:cNvSpPr/>
          <p:nvPr/>
        </p:nvSpPr>
        <p:spPr>
          <a:xfrm>
            <a:off x="6408705" y="3887786"/>
            <a:ext cx="2958192" cy="11083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7" name="Arrow: Left-Right 66">
            <a:extLst>
              <a:ext uri="{FF2B5EF4-FFF2-40B4-BE49-F238E27FC236}">
                <a16:creationId xmlns:a16="http://schemas.microsoft.com/office/drawing/2014/main" id="{8AC6B301-BEDE-0F76-2BB6-C5A03D874C76}"/>
              </a:ext>
            </a:extLst>
          </p:cNvPr>
          <p:cNvSpPr/>
          <p:nvPr/>
        </p:nvSpPr>
        <p:spPr>
          <a:xfrm>
            <a:off x="1956396" y="4441789"/>
            <a:ext cx="2958192" cy="11083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D3033DE-D2AA-E5BD-C6AE-8CDB376B083A}"/>
              </a:ext>
            </a:extLst>
          </p:cNvPr>
          <p:cNvSpPr/>
          <p:nvPr/>
        </p:nvSpPr>
        <p:spPr>
          <a:xfrm>
            <a:off x="1839114" y="1644673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0CE571F-C81E-3999-0DC1-A80B11C27D9A}"/>
              </a:ext>
            </a:extLst>
          </p:cNvPr>
          <p:cNvSpPr/>
          <p:nvPr/>
        </p:nvSpPr>
        <p:spPr>
          <a:xfrm>
            <a:off x="1809682" y="2312577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2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F47A24D-9EAC-F799-E45C-B2D0609B2AE7}"/>
              </a:ext>
            </a:extLst>
          </p:cNvPr>
          <p:cNvSpPr/>
          <p:nvPr/>
        </p:nvSpPr>
        <p:spPr>
          <a:xfrm>
            <a:off x="6284557" y="2816045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3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DEE05D3-12F0-C969-9360-450530121D3E}"/>
              </a:ext>
            </a:extLst>
          </p:cNvPr>
          <p:cNvSpPr/>
          <p:nvPr/>
        </p:nvSpPr>
        <p:spPr>
          <a:xfrm>
            <a:off x="6284557" y="3561065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4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5FE36E9-19C8-F4BB-DE7E-CCCA64AEE750}"/>
              </a:ext>
            </a:extLst>
          </p:cNvPr>
          <p:cNvSpPr/>
          <p:nvPr/>
        </p:nvSpPr>
        <p:spPr>
          <a:xfrm>
            <a:off x="1797657" y="4119778"/>
            <a:ext cx="233932" cy="225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8716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2622</TotalTime>
  <Words>326</Words>
  <Application>Microsoft Office PowerPoint</Application>
  <PresentationFormat>Widescreen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</vt:lpstr>
      <vt:lpstr>Office Theme</vt:lpstr>
      <vt:lpstr>PowerPoint Presentation</vt:lpstr>
      <vt:lpstr>PowerPoint Presentation</vt:lpstr>
      <vt:lpstr>PowerPoint Presentation</vt:lpstr>
      <vt:lpstr>Quality Reporting – Ecosystem</vt:lpstr>
      <vt:lpstr>Quality Reporting – IGs</vt:lpstr>
      <vt:lpstr>Population Reporting, no supporting data</vt:lpstr>
      <vt:lpstr>Population Reporting, supporting data</vt:lpstr>
      <vt:lpstr>FHIR Quality Reporting with DEQM</vt:lpstr>
      <vt:lpstr>Exchange Scope</vt:lpstr>
      <vt:lpstr>Exchange Scenarios</vt:lpstr>
      <vt:lpstr>Reporting Scenarios</vt:lpstr>
      <vt:lpstr>Payer/Provider Reporting – Setup </vt:lpstr>
      <vt:lpstr>Payer/Provider Reporting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Floyd Eisenberg</dc:creator>
  <cp:lastModifiedBy>Bryn Rhodes</cp:lastModifiedBy>
  <cp:revision>41</cp:revision>
  <dcterms:created xsi:type="dcterms:W3CDTF">2019-02-28T17:19:41Z</dcterms:created>
  <dcterms:modified xsi:type="dcterms:W3CDTF">2026-07-29T04:18:10Z</dcterms:modified>
</cp:coreProperties>
</file>